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66" r:id="rId5"/>
    <p:sldId id="259" r:id="rId6"/>
    <p:sldId id="260" r:id="rId7"/>
    <p:sldId id="261" r:id="rId8"/>
    <p:sldId id="262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49" autoAdjust="0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45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25674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997465-BCCE-19E6-691E-ADE0EF2BF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32E3B6-994D-D2FC-4667-15D9A40C1A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6F0D00-1879-56B9-8108-76695B6C47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B9ACFF-D209-39EE-65E9-0C3B3348AA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0657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A39844-F79F-2463-91BB-BDCD7E55F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C41D27-8F1D-A03B-8D0A-F0F0731842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A70186-A2B1-3918-FF94-622631B41F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68551F-92D7-9651-6E58-85CE1EA8DB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3069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0"/>
            <a:ext cx="3959352" cy="68580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0" y="365760"/>
            <a:ext cx="3566160" cy="3566160"/>
          </a:xfrm>
          <a:prstGeom prst="ellipse">
            <a:avLst/>
          </a:prstGeom>
          <a:solidFill>
            <a:srgbClr val="9B1D24">
              <a:alpha val="60000"/>
            </a:srgbClr>
          </a:solidFill>
          <a:ln w="12700">
            <a:solidFill>
              <a:srgbClr val="9B1D24">
                <a:alpha val="6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95360" y="822960"/>
            <a:ext cx="3200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0" dirty="0">
                <a:solidFill>
                  <a:srgbClr val="000000"/>
                </a:solidFill>
              </a:rPr>
              <a:t>🍕</a:t>
            </a:r>
            <a:endParaRPr lang="en-US" sz="11000" dirty="0"/>
          </a:p>
        </p:txBody>
      </p:sp>
      <p:sp>
        <p:nvSpPr>
          <p:cNvPr id="7" name="Text 5"/>
          <p:cNvSpPr/>
          <p:nvPr/>
        </p:nvSpPr>
        <p:spPr>
          <a:xfrm>
            <a:off x="594360" y="192024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PIZZA SALES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594360" y="27432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594360" y="320040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>
              <a:latin typeface="+mj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angle 0"/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highlight>
                <a:srgbClr val="000000"/>
              </a:highlight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804672"/>
            <a:ext cx="12188952" cy="3657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73152" cy="601675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0"/>
            <a:ext cx="10058400" cy="804672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sz="2100" b="1" i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PERFORMANCE INDICATORS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2072030" cy="188366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960120"/>
            <a:ext cx="2072030" cy="7315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207203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00" b="0" i="0" dirty="0">
                <a:latin typeface="Arial" panose="020B0604020202020204" pitchFamily="34" charset="0"/>
                <a:cs typeface="Arial" panose="020B0604020202020204" pitchFamily="34" charset="0"/>
              </a:rPr>
              <a:t>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81912"/>
            <a:ext cx="2072030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00" b="1" i="0" dirty="0">
                <a:solidFill>
                  <a:srgbClr val="E6394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21,350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76272"/>
            <a:ext cx="207203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 dirty="0">
                <a:solidFill>
                  <a:srgbClr val="3741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Total Transactions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505456"/>
            <a:ext cx="207203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 i="1" dirty="0"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unique orders in 2015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12110" y="960120"/>
            <a:ext cx="2072030" cy="188366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712110" y="960120"/>
            <a:ext cx="2072030" cy="73152"/>
          </a:xfrm>
          <a:prstGeom prst="rect">
            <a:avLst/>
          </a:prstGeom>
          <a:solidFill>
            <a:srgbClr val="E55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12110" y="1051560"/>
            <a:ext cx="207203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00" b="0" i="0">
                <a:latin typeface="Arial" panose="020B0604020202020204" pitchFamily="34" charset="0"/>
                <a:cs typeface="Arial" panose="020B0604020202020204" pitchFamily="34" charset="0"/>
              </a:rPr>
              <a:t>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12110" y="1581912"/>
            <a:ext cx="2072030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00" b="1" i="0">
                <a:solidFill>
                  <a:srgbClr val="E55B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49,574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12110" y="2176272"/>
            <a:ext cx="207203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3741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Total Pizzas Sold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12110" y="2505456"/>
            <a:ext cx="207203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 i="1"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across all sizes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67020" y="960120"/>
            <a:ext cx="2072030" cy="188366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967020" y="960120"/>
            <a:ext cx="2072030" cy="73152"/>
          </a:xfrm>
          <a:prstGeom prst="rect">
            <a:avLst/>
          </a:prstGeom>
          <a:solidFill>
            <a:srgbClr val="9B1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67020" y="1051560"/>
            <a:ext cx="207203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00" b="0" i="0">
                <a:latin typeface="Arial" panose="020B0604020202020204" pitchFamily="34" charset="0"/>
                <a:cs typeface="Arial" panose="020B0604020202020204" pitchFamily="34" charset="0"/>
              </a:rPr>
              <a:t>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67020" y="1581912"/>
            <a:ext cx="2072030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00" b="1" i="0">
                <a:solidFill>
                  <a:srgbClr val="9B1D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$817,860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67020" y="2176272"/>
            <a:ext cx="207203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3741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Total Revenue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67020" y="2505456"/>
            <a:ext cx="207203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 i="1"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full year gross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21931" y="960120"/>
            <a:ext cx="2072030" cy="188366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221931" y="960120"/>
            <a:ext cx="2072030" cy="73152"/>
          </a:xfrm>
          <a:prstGeom prst="rect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221931" y="1051560"/>
            <a:ext cx="207203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00" b="0" i="0">
                <a:latin typeface="Arial" panose="020B0604020202020204" pitchFamily="34" charset="0"/>
                <a:cs typeface="Arial" panose="020B0604020202020204" pitchFamily="34" charset="0"/>
              </a:rPr>
              <a:t>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1931" y="1581912"/>
            <a:ext cx="2072030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00" b="1" i="0">
                <a:solidFill>
                  <a:srgbClr val="457B9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2.32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1931" y="2176272"/>
            <a:ext cx="207203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3741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Avg Pizzas / Order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1931" y="2505456"/>
            <a:ext cx="207203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 i="1"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pizzas per transaction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476841" y="960120"/>
            <a:ext cx="2072030" cy="188366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476841" y="960120"/>
            <a:ext cx="2072030" cy="7315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476841" y="1051560"/>
            <a:ext cx="207203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00" b="0" i="0">
                <a:latin typeface="Arial" panose="020B0604020202020204" pitchFamily="34" charset="0"/>
                <a:cs typeface="Arial" panose="020B0604020202020204" pitchFamily="34" charset="0"/>
              </a:rPr>
              <a:t>🧾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76841" y="1581912"/>
            <a:ext cx="2072030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00" b="1" i="0">
                <a:solidFill>
                  <a:srgbClr val="2A9D8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$38.31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76841" y="2176272"/>
            <a:ext cx="207203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3741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Avg Order Value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76841" y="2505456"/>
            <a:ext cx="207203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 i="1"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 transaction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2962656"/>
            <a:ext cx="6675120" cy="36667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57200" y="2963798"/>
            <a:ext cx="6675120" cy="54864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8" name="Oval 37"/>
          <p:cNvSpPr/>
          <p:nvPr/>
        </p:nvSpPr>
        <p:spPr>
          <a:xfrm>
            <a:off x="603504" y="3154679"/>
            <a:ext cx="91440" cy="91440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731520" y="3154679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859536" y="3154679"/>
            <a:ext cx="91440" cy="9144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446520" y="3099815"/>
            <a:ext cx="594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6B7280"/>
                </a:solidFill>
                <a:latin typeface="Consolas"/>
              </a:rPr>
              <a:t>MySQL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3504" y="3310128"/>
            <a:ext cx="6446520" cy="3154680"/>
          </a:xfrm>
          <a:prstGeom prst="rect">
            <a:avLst/>
          </a:prstGeom>
          <a:noFill/>
        </p:spPr>
        <p:txBody>
          <a:bodyPr wrap="none"/>
          <a:lstStyle/>
          <a:p>
            <a:pPr>
              <a:lnSpc>
                <a:spcPts val="1024"/>
              </a:lnSpc>
              <a:spcBef>
                <a:spcPts val="0"/>
              </a:spcBef>
              <a:spcAft>
                <a:spcPts val="0"/>
              </a:spcAft>
            </a:pPr>
            <a:r>
              <a:rPr sz="800" dirty="0">
                <a:solidFill>
                  <a:srgbClr val="CBD5E1"/>
                </a:solidFill>
                <a:latin typeface="Consolas"/>
              </a:rPr>
              <a:t>-- Total Transactions</a:t>
            </a:r>
          </a:p>
          <a:p>
            <a:pPr>
              <a:lnSpc>
                <a:spcPts val="1024"/>
              </a:lnSpc>
              <a:spcBef>
                <a:spcPts val="0"/>
              </a:spcBef>
              <a:spcAft>
                <a:spcPts val="0"/>
              </a:spcAft>
            </a:pPr>
            <a:r>
              <a:rPr sz="800" dirty="0">
                <a:solidFill>
                  <a:srgbClr val="CBD5E1"/>
                </a:solidFill>
                <a:latin typeface="Consolas"/>
              </a:rPr>
              <a:t>SELECT COUNT(</a:t>
            </a:r>
            <a:r>
              <a:rPr sz="800" dirty="0" err="1">
                <a:solidFill>
                  <a:srgbClr val="CBD5E1"/>
                </a:solidFill>
                <a:latin typeface="Consolas"/>
              </a:rPr>
              <a:t>order_id</a:t>
            </a:r>
            <a:r>
              <a:rPr sz="800" dirty="0">
                <a:solidFill>
                  <a:srgbClr val="CBD5E1"/>
                </a:solidFill>
                <a:latin typeface="Consolas"/>
              </a:rPr>
              <a:t>) AS </a:t>
            </a:r>
            <a:r>
              <a:rPr sz="800" dirty="0" err="1">
                <a:solidFill>
                  <a:srgbClr val="CBD5E1"/>
                </a:solidFill>
                <a:latin typeface="Consolas"/>
              </a:rPr>
              <a:t>total_orders</a:t>
            </a:r>
            <a:endParaRPr sz="800" dirty="0">
              <a:solidFill>
                <a:srgbClr val="CBD5E1"/>
              </a:solidFill>
              <a:latin typeface="Consolas"/>
            </a:endParaRPr>
          </a:p>
          <a:p>
            <a:pPr>
              <a:lnSpc>
                <a:spcPts val="1024"/>
              </a:lnSpc>
              <a:spcBef>
                <a:spcPts val="0"/>
              </a:spcBef>
              <a:spcAft>
                <a:spcPts val="0"/>
              </a:spcAft>
            </a:pPr>
            <a:r>
              <a:rPr sz="800" dirty="0">
                <a:solidFill>
                  <a:srgbClr val="CBD5E1"/>
                </a:solidFill>
                <a:latin typeface="Consolas"/>
              </a:rPr>
              <a:t>FROM orders;</a:t>
            </a:r>
          </a:p>
          <a:p>
            <a:pPr>
              <a:lnSpc>
                <a:spcPts val="1024"/>
              </a:lnSpc>
              <a:spcBef>
                <a:spcPts val="0"/>
              </a:spcBef>
              <a:spcAft>
                <a:spcPts val="0"/>
              </a:spcAft>
            </a:pPr>
            <a:endParaRPr sz="800" dirty="0">
              <a:solidFill>
                <a:srgbClr val="CBD5E1"/>
              </a:solidFill>
              <a:latin typeface="Consolas"/>
            </a:endParaRPr>
          </a:p>
          <a:p>
            <a:pPr>
              <a:lnSpc>
                <a:spcPts val="1024"/>
              </a:lnSpc>
              <a:spcBef>
                <a:spcPts val="0"/>
              </a:spcBef>
              <a:spcAft>
                <a:spcPts val="0"/>
              </a:spcAft>
            </a:pPr>
            <a:r>
              <a:rPr sz="800" dirty="0">
                <a:solidFill>
                  <a:srgbClr val="CBD5E1"/>
                </a:solidFill>
                <a:latin typeface="Consolas"/>
              </a:rPr>
              <a:t>-- Total Pizzas Sold</a:t>
            </a:r>
          </a:p>
          <a:p>
            <a:pPr>
              <a:lnSpc>
                <a:spcPts val="1024"/>
              </a:lnSpc>
              <a:spcBef>
                <a:spcPts val="0"/>
              </a:spcBef>
              <a:spcAft>
                <a:spcPts val="0"/>
              </a:spcAft>
            </a:pPr>
            <a:r>
              <a:rPr sz="800" dirty="0">
                <a:solidFill>
                  <a:srgbClr val="CBD5E1"/>
                </a:solidFill>
                <a:latin typeface="Consolas"/>
              </a:rPr>
              <a:t>SELECT SUM(quantity) AS </a:t>
            </a:r>
            <a:r>
              <a:rPr sz="800" dirty="0" err="1">
                <a:solidFill>
                  <a:srgbClr val="CBD5E1"/>
                </a:solidFill>
                <a:latin typeface="Consolas"/>
              </a:rPr>
              <a:t>total_pizzas_sold</a:t>
            </a:r>
            <a:endParaRPr sz="800" dirty="0">
              <a:solidFill>
                <a:srgbClr val="CBD5E1"/>
              </a:solidFill>
              <a:latin typeface="Consolas"/>
            </a:endParaRPr>
          </a:p>
          <a:p>
            <a:pPr>
              <a:lnSpc>
                <a:spcPts val="1024"/>
              </a:lnSpc>
              <a:spcBef>
                <a:spcPts val="0"/>
              </a:spcBef>
              <a:spcAft>
                <a:spcPts val="0"/>
              </a:spcAft>
            </a:pPr>
            <a:r>
              <a:rPr sz="800" dirty="0">
                <a:solidFill>
                  <a:srgbClr val="CBD5E1"/>
                </a:solidFill>
                <a:latin typeface="Consolas"/>
              </a:rPr>
              <a:t>FROM </a:t>
            </a:r>
            <a:r>
              <a:rPr sz="800" dirty="0" err="1">
                <a:solidFill>
                  <a:srgbClr val="CBD5E1"/>
                </a:solidFill>
                <a:latin typeface="Consolas"/>
              </a:rPr>
              <a:t>order_details</a:t>
            </a:r>
            <a:r>
              <a:rPr sz="800" dirty="0">
                <a:solidFill>
                  <a:srgbClr val="CBD5E1"/>
                </a:solidFill>
                <a:latin typeface="Consolas"/>
              </a:rPr>
              <a:t>;</a:t>
            </a:r>
          </a:p>
          <a:p>
            <a:pPr>
              <a:lnSpc>
                <a:spcPts val="1024"/>
              </a:lnSpc>
              <a:spcBef>
                <a:spcPts val="0"/>
              </a:spcBef>
              <a:spcAft>
                <a:spcPts val="0"/>
              </a:spcAft>
            </a:pPr>
            <a:endParaRPr sz="800" dirty="0">
              <a:solidFill>
                <a:srgbClr val="CBD5E1"/>
              </a:solidFill>
              <a:latin typeface="Consolas"/>
            </a:endParaRPr>
          </a:p>
          <a:p>
            <a:pPr>
              <a:lnSpc>
                <a:spcPts val="1024"/>
              </a:lnSpc>
              <a:spcBef>
                <a:spcPts val="0"/>
              </a:spcBef>
              <a:spcAft>
                <a:spcPts val="0"/>
              </a:spcAft>
            </a:pPr>
            <a:r>
              <a:rPr sz="800" dirty="0">
                <a:solidFill>
                  <a:srgbClr val="CBD5E1"/>
                </a:solidFill>
                <a:latin typeface="Consolas"/>
              </a:rPr>
              <a:t>-- Total Revenue</a:t>
            </a:r>
          </a:p>
          <a:p>
            <a:pPr>
              <a:lnSpc>
                <a:spcPts val="1024"/>
              </a:lnSpc>
              <a:spcBef>
                <a:spcPts val="0"/>
              </a:spcBef>
              <a:spcAft>
                <a:spcPts val="0"/>
              </a:spcAft>
            </a:pPr>
            <a:r>
              <a:rPr sz="800" dirty="0">
                <a:solidFill>
                  <a:srgbClr val="CBD5E1"/>
                </a:solidFill>
                <a:latin typeface="Consolas"/>
              </a:rPr>
              <a:t>SELECT ROUND(SUM(</a:t>
            </a:r>
            <a:r>
              <a:rPr sz="800" dirty="0" err="1">
                <a:solidFill>
                  <a:srgbClr val="CBD5E1"/>
                </a:solidFill>
                <a:latin typeface="Consolas"/>
              </a:rPr>
              <a:t>od.quantity</a:t>
            </a:r>
            <a:r>
              <a:rPr sz="800" dirty="0">
                <a:solidFill>
                  <a:srgbClr val="CBD5E1"/>
                </a:solidFill>
                <a:latin typeface="Consolas"/>
              </a:rPr>
              <a:t> * </a:t>
            </a:r>
            <a:r>
              <a:rPr sz="800" dirty="0" err="1">
                <a:solidFill>
                  <a:srgbClr val="CBD5E1"/>
                </a:solidFill>
                <a:latin typeface="Consolas"/>
              </a:rPr>
              <a:t>p.price</a:t>
            </a:r>
            <a:r>
              <a:rPr sz="800" dirty="0">
                <a:solidFill>
                  <a:srgbClr val="CBD5E1"/>
                </a:solidFill>
                <a:latin typeface="Consolas"/>
              </a:rPr>
              <a:t>), 2) AS </a:t>
            </a:r>
            <a:r>
              <a:rPr sz="800" dirty="0" err="1">
                <a:solidFill>
                  <a:srgbClr val="CBD5E1"/>
                </a:solidFill>
                <a:latin typeface="Consolas"/>
              </a:rPr>
              <a:t>total_revenue</a:t>
            </a:r>
            <a:endParaRPr sz="800" dirty="0">
              <a:solidFill>
                <a:srgbClr val="CBD5E1"/>
              </a:solidFill>
              <a:latin typeface="Consolas"/>
            </a:endParaRPr>
          </a:p>
          <a:p>
            <a:pPr>
              <a:lnSpc>
                <a:spcPts val="1024"/>
              </a:lnSpc>
              <a:spcBef>
                <a:spcPts val="0"/>
              </a:spcBef>
              <a:spcAft>
                <a:spcPts val="0"/>
              </a:spcAft>
            </a:pPr>
            <a:r>
              <a:rPr sz="800" dirty="0">
                <a:solidFill>
                  <a:srgbClr val="CBD5E1"/>
                </a:solidFill>
                <a:latin typeface="Consolas"/>
              </a:rPr>
              <a:t>FROM </a:t>
            </a:r>
            <a:r>
              <a:rPr sz="800" dirty="0" err="1">
                <a:solidFill>
                  <a:srgbClr val="CBD5E1"/>
                </a:solidFill>
                <a:latin typeface="Consolas"/>
              </a:rPr>
              <a:t>order_details</a:t>
            </a:r>
            <a:r>
              <a:rPr sz="800" dirty="0">
                <a:solidFill>
                  <a:srgbClr val="CBD5E1"/>
                </a:solidFill>
                <a:latin typeface="Consolas"/>
              </a:rPr>
              <a:t> od</a:t>
            </a:r>
          </a:p>
          <a:p>
            <a:pPr>
              <a:lnSpc>
                <a:spcPts val="1024"/>
              </a:lnSpc>
              <a:spcBef>
                <a:spcPts val="0"/>
              </a:spcBef>
              <a:spcAft>
                <a:spcPts val="0"/>
              </a:spcAft>
            </a:pPr>
            <a:r>
              <a:rPr sz="800" dirty="0">
                <a:solidFill>
                  <a:srgbClr val="CBD5E1"/>
                </a:solidFill>
                <a:latin typeface="Consolas"/>
              </a:rPr>
              <a:t>JOIN pizzas p USING(</a:t>
            </a:r>
            <a:r>
              <a:rPr sz="800" dirty="0" err="1">
                <a:solidFill>
                  <a:srgbClr val="CBD5E1"/>
                </a:solidFill>
                <a:latin typeface="Consolas"/>
              </a:rPr>
              <a:t>pizza_id</a:t>
            </a:r>
            <a:r>
              <a:rPr sz="800" dirty="0">
                <a:solidFill>
                  <a:srgbClr val="CBD5E1"/>
                </a:solidFill>
                <a:latin typeface="Consolas"/>
              </a:rPr>
              <a:t>);</a:t>
            </a:r>
          </a:p>
          <a:p>
            <a:pPr>
              <a:lnSpc>
                <a:spcPts val="1024"/>
              </a:lnSpc>
              <a:spcBef>
                <a:spcPts val="0"/>
              </a:spcBef>
              <a:spcAft>
                <a:spcPts val="0"/>
              </a:spcAft>
            </a:pPr>
            <a:endParaRPr sz="800" dirty="0">
              <a:solidFill>
                <a:srgbClr val="CBD5E1"/>
              </a:solidFill>
              <a:latin typeface="Consolas"/>
            </a:endParaRPr>
          </a:p>
          <a:p>
            <a:pPr>
              <a:lnSpc>
                <a:spcPts val="1024"/>
              </a:lnSpc>
              <a:spcBef>
                <a:spcPts val="0"/>
              </a:spcBef>
              <a:spcAft>
                <a:spcPts val="0"/>
              </a:spcAft>
            </a:pPr>
            <a:r>
              <a:rPr sz="800" dirty="0">
                <a:solidFill>
                  <a:srgbClr val="CBD5E1"/>
                </a:solidFill>
                <a:latin typeface="Consolas"/>
              </a:rPr>
              <a:t>-- Average Pizzas per Order</a:t>
            </a:r>
          </a:p>
          <a:p>
            <a:pPr>
              <a:lnSpc>
                <a:spcPts val="1024"/>
              </a:lnSpc>
              <a:spcBef>
                <a:spcPts val="0"/>
              </a:spcBef>
              <a:spcAft>
                <a:spcPts val="0"/>
              </a:spcAft>
            </a:pPr>
            <a:r>
              <a:rPr sz="800" dirty="0">
                <a:solidFill>
                  <a:srgbClr val="CBD5E1"/>
                </a:solidFill>
                <a:latin typeface="Consolas"/>
              </a:rPr>
              <a:t>SELECT SUM(</a:t>
            </a:r>
            <a:r>
              <a:rPr sz="800" dirty="0" err="1">
                <a:solidFill>
                  <a:srgbClr val="CBD5E1"/>
                </a:solidFill>
                <a:latin typeface="Consolas"/>
              </a:rPr>
              <a:t>od.quantity</a:t>
            </a:r>
            <a:r>
              <a:rPr sz="800" dirty="0">
                <a:solidFill>
                  <a:srgbClr val="CBD5E1"/>
                </a:solidFill>
                <a:latin typeface="Consolas"/>
              </a:rPr>
              <a:t>) / COUNT(DISTINCT </a:t>
            </a:r>
            <a:r>
              <a:rPr sz="800" dirty="0" err="1">
                <a:solidFill>
                  <a:srgbClr val="CBD5E1"/>
                </a:solidFill>
                <a:latin typeface="Consolas"/>
              </a:rPr>
              <a:t>o.order_id</a:t>
            </a:r>
            <a:r>
              <a:rPr sz="800" dirty="0">
                <a:solidFill>
                  <a:srgbClr val="CBD5E1"/>
                </a:solidFill>
                <a:latin typeface="Consolas"/>
              </a:rPr>
              <a:t>)</a:t>
            </a:r>
          </a:p>
          <a:p>
            <a:pPr>
              <a:lnSpc>
                <a:spcPts val="1024"/>
              </a:lnSpc>
              <a:spcBef>
                <a:spcPts val="0"/>
              </a:spcBef>
              <a:spcAft>
                <a:spcPts val="0"/>
              </a:spcAft>
            </a:pPr>
            <a:r>
              <a:rPr sz="800" dirty="0">
                <a:solidFill>
                  <a:srgbClr val="CBD5E1"/>
                </a:solidFill>
                <a:latin typeface="Consolas"/>
              </a:rPr>
              <a:t>  AS </a:t>
            </a:r>
            <a:r>
              <a:rPr sz="800" dirty="0" err="1">
                <a:solidFill>
                  <a:srgbClr val="CBD5E1"/>
                </a:solidFill>
                <a:latin typeface="Consolas"/>
              </a:rPr>
              <a:t>avg_pizza_per_order</a:t>
            </a:r>
            <a:endParaRPr sz="800" dirty="0">
              <a:solidFill>
                <a:srgbClr val="CBD5E1"/>
              </a:solidFill>
              <a:latin typeface="Consolas"/>
            </a:endParaRPr>
          </a:p>
          <a:p>
            <a:pPr>
              <a:lnSpc>
                <a:spcPts val="1024"/>
              </a:lnSpc>
              <a:spcBef>
                <a:spcPts val="0"/>
              </a:spcBef>
              <a:spcAft>
                <a:spcPts val="0"/>
              </a:spcAft>
            </a:pPr>
            <a:r>
              <a:rPr sz="800" dirty="0">
                <a:solidFill>
                  <a:srgbClr val="CBD5E1"/>
                </a:solidFill>
                <a:latin typeface="Consolas"/>
              </a:rPr>
              <a:t>FROM </a:t>
            </a:r>
            <a:r>
              <a:rPr sz="800" dirty="0" err="1">
                <a:solidFill>
                  <a:srgbClr val="CBD5E1"/>
                </a:solidFill>
                <a:latin typeface="Consolas"/>
              </a:rPr>
              <a:t>order_details</a:t>
            </a:r>
            <a:r>
              <a:rPr sz="800" dirty="0">
                <a:solidFill>
                  <a:srgbClr val="CBD5E1"/>
                </a:solidFill>
                <a:latin typeface="Consolas"/>
              </a:rPr>
              <a:t> od</a:t>
            </a:r>
          </a:p>
          <a:p>
            <a:pPr>
              <a:lnSpc>
                <a:spcPts val="1024"/>
              </a:lnSpc>
              <a:spcBef>
                <a:spcPts val="0"/>
              </a:spcBef>
              <a:spcAft>
                <a:spcPts val="0"/>
              </a:spcAft>
            </a:pPr>
            <a:r>
              <a:rPr sz="800" dirty="0">
                <a:solidFill>
                  <a:srgbClr val="CBD5E1"/>
                </a:solidFill>
                <a:latin typeface="Consolas"/>
              </a:rPr>
              <a:t>JOIN orders o USING(</a:t>
            </a:r>
            <a:r>
              <a:rPr sz="800" dirty="0" err="1">
                <a:solidFill>
                  <a:srgbClr val="CBD5E1"/>
                </a:solidFill>
                <a:latin typeface="Consolas"/>
              </a:rPr>
              <a:t>order_id</a:t>
            </a:r>
            <a:r>
              <a:rPr sz="800" dirty="0">
                <a:solidFill>
                  <a:srgbClr val="CBD5E1"/>
                </a:solidFill>
                <a:latin typeface="Consolas"/>
              </a:rPr>
              <a:t>);</a:t>
            </a:r>
          </a:p>
          <a:p>
            <a:pPr>
              <a:lnSpc>
                <a:spcPts val="1024"/>
              </a:lnSpc>
              <a:spcBef>
                <a:spcPts val="0"/>
              </a:spcBef>
              <a:spcAft>
                <a:spcPts val="0"/>
              </a:spcAft>
            </a:pPr>
            <a:endParaRPr sz="800" dirty="0">
              <a:solidFill>
                <a:srgbClr val="CBD5E1"/>
              </a:solidFill>
              <a:latin typeface="Consolas"/>
            </a:endParaRPr>
          </a:p>
          <a:p>
            <a:pPr>
              <a:lnSpc>
                <a:spcPts val="1024"/>
              </a:lnSpc>
              <a:spcBef>
                <a:spcPts val="0"/>
              </a:spcBef>
              <a:spcAft>
                <a:spcPts val="0"/>
              </a:spcAft>
            </a:pPr>
            <a:r>
              <a:rPr sz="800" dirty="0">
                <a:solidFill>
                  <a:srgbClr val="CBD5E1"/>
                </a:solidFill>
                <a:latin typeface="Consolas"/>
              </a:rPr>
              <a:t>-- Average Order Value</a:t>
            </a:r>
          </a:p>
          <a:p>
            <a:pPr>
              <a:lnSpc>
                <a:spcPts val="1024"/>
              </a:lnSpc>
              <a:spcBef>
                <a:spcPts val="0"/>
              </a:spcBef>
              <a:spcAft>
                <a:spcPts val="0"/>
              </a:spcAft>
            </a:pPr>
            <a:r>
              <a:rPr sz="800" dirty="0">
                <a:solidFill>
                  <a:srgbClr val="CBD5E1"/>
                </a:solidFill>
                <a:latin typeface="Consolas"/>
              </a:rPr>
              <a:t>SELECT ROUND(SUM(</a:t>
            </a:r>
            <a:r>
              <a:rPr sz="800" dirty="0" err="1">
                <a:solidFill>
                  <a:srgbClr val="CBD5E1"/>
                </a:solidFill>
                <a:latin typeface="Consolas"/>
              </a:rPr>
              <a:t>od.quantity</a:t>
            </a:r>
            <a:r>
              <a:rPr sz="800" dirty="0">
                <a:solidFill>
                  <a:srgbClr val="CBD5E1"/>
                </a:solidFill>
                <a:latin typeface="Consolas"/>
              </a:rPr>
              <a:t> * </a:t>
            </a:r>
            <a:r>
              <a:rPr sz="800" dirty="0" err="1">
                <a:solidFill>
                  <a:srgbClr val="CBD5E1"/>
                </a:solidFill>
                <a:latin typeface="Consolas"/>
              </a:rPr>
              <a:t>p.price</a:t>
            </a:r>
            <a:r>
              <a:rPr sz="800" dirty="0">
                <a:solidFill>
                  <a:srgbClr val="CBD5E1"/>
                </a:solidFill>
                <a:latin typeface="Consolas"/>
              </a:rPr>
              <a:t>), 2)</a:t>
            </a:r>
          </a:p>
          <a:p>
            <a:pPr>
              <a:lnSpc>
                <a:spcPts val="1024"/>
              </a:lnSpc>
              <a:spcBef>
                <a:spcPts val="0"/>
              </a:spcBef>
              <a:spcAft>
                <a:spcPts val="0"/>
              </a:spcAft>
            </a:pPr>
            <a:r>
              <a:rPr sz="800" dirty="0">
                <a:solidFill>
                  <a:srgbClr val="CBD5E1"/>
                </a:solidFill>
                <a:latin typeface="Consolas"/>
              </a:rPr>
              <a:t>       / COUNT(DISTINCT </a:t>
            </a:r>
            <a:r>
              <a:rPr sz="800" dirty="0" err="1">
                <a:solidFill>
                  <a:srgbClr val="CBD5E1"/>
                </a:solidFill>
                <a:latin typeface="Consolas"/>
              </a:rPr>
              <a:t>o.order_id</a:t>
            </a:r>
            <a:r>
              <a:rPr sz="800" dirty="0">
                <a:solidFill>
                  <a:srgbClr val="CBD5E1"/>
                </a:solidFill>
                <a:latin typeface="Consolas"/>
              </a:rPr>
              <a:t>) AS </a:t>
            </a:r>
            <a:r>
              <a:rPr sz="800" dirty="0" err="1">
                <a:solidFill>
                  <a:srgbClr val="CBD5E1"/>
                </a:solidFill>
                <a:latin typeface="Consolas"/>
              </a:rPr>
              <a:t>avg_value_per_order</a:t>
            </a:r>
            <a:endParaRPr sz="800" dirty="0">
              <a:solidFill>
                <a:srgbClr val="CBD5E1"/>
              </a:solidFill>
              <a:latin typeface="Consolas"/>
            </a:endParaRPr>
          </a:p>
          <a:p>
            <a:pPr>
              <a:lnSpc>
                <a:spcPts val="1024"/>
              </a:lnSpc>
              <a:spcBef>
                <a:spcPts val="0"/>
              </a:spcBef>
              <a:spcAft>
                <a:spcPts val="0"/>
              </a:spcAft>
            </a:pPr>
            <a:r>
              <a:rPr sz="800" dirty="0">
                <a:solidFill>
                  <a:srgbClr val="CBD5E1"/>
                </a:solidFill>
                <a:latin typeface="Consolas"/>
              </a:rPr>
              <a:t>FROM </a:t>
            </a:r>
            <a:r>
              <a:rPr sz="800" dirty="0" err="1">
                <a:solidFill>
                  <a:srgbClr val="CBD5E1"/>
                </a:solidFill>
                <a:latin typeface="Consolas"/>
              </a:rPr>
              <a:t>order_details</a:t>
            </a:r>
            <a:r>
              <a:rPr sz="800" dirty="0">
                <a:solidFill>
                  <a:srgbClr val="CBD5E1"/>
                </a:solidFill>
                <a:latin typeface="Consolas"/>
              </a:rPr>
              <a:t> od</a:t>
            </a:r>
          </a:p>
          <a:p>
            <a:pPr>
              <a:lnSpc>
                <a:spcPts val="1024"/>
              </a:lnSpc>
              <a:spcBef>
                <a:spcPts val="0"/>
              </a:spcBef>
              <a:spcAft>
                <a:spcPts val="0"/>
              </a:spcAft>
            </a:pPr>
            <a:r>
              <a:rPr sz="800" dirty="0">
                <a:solidFill>
                  <a:srgbClr val="CBD5E1"/>
                </a:solidFill>
                <a:latin typeface="Consolas"/>
              </a:rPr>
              <a:t>JOIN pizzas p USING(</a:t>
            </a:r>
            <a:r>
              <a:rPr sz="800" dirty="0" err="1">
                <a:solidFill>
                  <a:srgbClr val="CBD5E1"/>
                </a:solidFill>
                <a:latin typeface="Consolas"/>
              </a:rPr>
              <a:t>pizza_id</a:t>
            </a:r>
            <a:r>
              <a:rPr sz="800" dirty="0">
                <a:solidFill>
                  <a:srgbClr val="CBD5E1"/>
                </a:solidFill>
                <a:latin typeface="Consolas"/>
              </a:rPr>
              <a:t>)</a:t>
            </a:r>
          </a:p>
          <a:p>
            <a:pPr>
              <a:lnSpc>
                <a:spcPts val="1024"/>
              </a:lnSpc>
              <a:spcBef>
                <a:spcPts val="0"/>
              </a:spcBef>
              <a:spcAft>
                <a:spcPts val="0"/>
              </a:spcAft>
            </a:pPr>
            <a:r>
              <a:rPr sz="800" dirty="0">
                <a:solidFill>
                  <a:srgbClr val="CBD5E1"/>
                </a:solidFill>
                <a:latin typeface="Consolas"/>
              </a:rPr>
              <a:t>JOIN orders o USING(</a:t>
            </a:r>
            <a:r>
              <a:rPr sz="800" dirty="0" err="1">
                <a:solidFill>
                  <a:srgbClr val="CBD5E1"/>
                </a:solidFill>
                <a:latin typeface="Consolas"/>
              </a:rPr>
              <a:t>order_id</a:t>
            </a:r>
            <a:r>
              <a:rPr sz="800" dirty="0">
                <a:solidFill>
                  <a:srgbClr val="CBD5E1"/>
                </a:solidFill>
                <a:latin typeface="Consolas"/>
              </a:rPr>
              <a:t>);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360920" y="2962656"/>
            <a:ext cx="4416551" cy="366674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7360920" y="2963798"/>
            <a:ext cx="64008" cy="366560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543800" y="3090163"/>
            <a:ext cx="4142231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1" i="0" dirty="0">
                <a:solidFill>
                  <a:srgbClr val="E6394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ANALYSIS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43800" y="3346195"/>
            <a:ext cx="4142231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b="1" i="0" dirty="0">
                <a:solidFill>
                  <a:srgbClr val="1F29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Business Snapshot</a:t>
            </a:r>
          </a:p>
        </p:txBody>
      </p:sp>
      <p:sp>
        <p:nvSpPr>
          <p:cNvPr id="47" name="Oval 46"/>
          <p:cNvSpPr/>
          <p:nvPr/>
        </p:nvSpPr>
        <p:spPr>
          <a:xfrm>
            <a:off x="7543800" y="3982718"/>
            <a:ext cx="109728" cy="109728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7726680" y="3894835"/>
            <a:ext cx="3959351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1" i="0" dirty="0">
                <a:solidFill>
                  <a:srgbClr val="E6394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$817,860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26680" y="4169155"/>
            <a:ext cx="3959351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just"/>
            <a:r>
              <a:rPr sz="900" b="0" i="0" dirty="0">
                <a:solidFill>
                  <a:srgbClr val="3741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total revenue from 21,350 orders in 2015 — averaging $38.31 per transaction.</a:t>
            </a:r>
          </a:p>
        </p:txBody>
      </p:sp>
      <p:sp>
        <p:nvSpPr>
          <p:cNvPr id="50" name="Oval 49"/>
          <p:cNvSpPr/>
          <p:nvPr/>
        </p:nvSpPr>
        <p:spPr>
          <a:xfrm>
            <a:off x="7543800" y="4641086"/>
            <a:ext cx="109728" cy="109728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7726680" y="4553203"/>
            <a:ext cx="3959351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1" i="0">
                <a:solidFill>
                  <a:srgbClr val="E6394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2.32 pizzas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726680" y="4827522"/>
            <a:ext cx="3959351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just"/>
            <a:r>
              <a:rPr sz="900" b="0" i="0" dirty="0">
                <a:solidFill>
                  <a:srgbClr val="3741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 order leaves clear room for growth; family bundles targeting 3+ could add ~$14/order.</a:t>
            </a:r>
          </a:p>
        </p:txBody>
      </p:sp>
      <p:sp>
        <p:nvSpPr>
          <p:cNvPr id="53" name="Oval 52"/>
          <p:cNvSpPr/>
          <p:nvPr/>
        </p:nvSpPr>
        <p:spPr>
          <a:xfrm>
            <a:off x="7543800" y="5292088"/>
            <a:ext cx="109728" cy="109728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7726680" y="5211571"/>
            <a:ext cx="3959351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1" i="0">
                <a:solidFill>
                  <a:srgbClr val="E6394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49,574 units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26680" y="5485891"/>
            <a:ext cx="3959351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just"/>
            <a:r>
              <a:rPr sz="900" b="0" i="0" dirty="0">
                <a:solidFill>
                  <a:srgbClr val="3741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sold yearly = ~136 pizzas/day, indicating steady and manageable daily demand.</a:t>
            </a:r>
          </a:p>
        </p:txBody>
      </p:sp>
      <p:sp>
        <p:nvSpPr>
          <p:cNvPr id="56" name="Oval 55"/>
          <p:cNvSpPr/>
          <p:nvPr/>
        </p:nvSpPr>
        <p:spPr>
          <a:xfrm>
            <a:off x="7543800" y="5952235"/>
            <a:ext cx="109728" cy="109728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7726680" y="5869939"/>
            <a:ext cx="3959351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1" i="0">
                <a:solidFill>
                  <a:srgbClr val="E6394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Avg $38.31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26680" y="6144259"/>
            <a:ext cx="3959351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just"/>
            <a:r>
              <a:rPr sz="900" b="0" i="0" dirty="0">
                <a:solidFill>
                  <a:srgbClr val="3741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 order is the key lever — every $1 increase in basket size yields +$21K annually.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C00000"/>
          </a:solidFill>
          <a:ln w="12700">
            <a:noFill/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73152" cy="6035040"/>
          </a:xfrm>
          <a:prstGeom prst="rect">
            <a:avLst/>
          </a:prstGeom>
          <a:solidFill>
            <a:srgbClr val="C00000"/>
          </a:solidFill>
          <a:ln w="12700">
            <a:noFill/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11457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kern="0" spc="200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ORDER TREND BY DAY OF WEEK</a:t>
            </a:r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3769937" cy="5720080"/>
          </a:xfrm>
          <a:prstGeom prst="rect">
            <a:avLst/>
          </a:prstGeom>
          <a:solidFill>
            <a:srgbClr val="1E1E2E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60120"/>
            <a:ext cx="3769937" cy="7315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4632" y="1115568"/>
            <a:ext cx="91440" cy="9144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0936" y="1115568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1115568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08343" y="1097280"/>
            <a:ext cx="19930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57200" y="1307592"/>
            <a:ext cx="3607439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DAYNAME(date) AS day,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COUNT(DISTINCT order_id) AS total_order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orders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order_details USING(order_id)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day, WEEKDAY(date)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WEEKDAY(date);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4412454" y="96012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Query Result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4412454" y="1325880"/>
            <a:ext cx="1950720" cy="347472"/>
          </a:xfrm>
          <a:prstGeom prst="rect">
            <a:avLst/>
          </a:prstGeom>
          <a:solidFill>
            <a:srgbClr val="E63946"/>
          </a:solidFill>
          <a:ln w="6350">
            <a:solidFill>
              <a:srgbClr val="9B1D2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03894" y="1325880"/>
            <a:ext cx="1813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Day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6363174" y="1325880"/>
            <a:ext cx="1950720" cy="347472"/>
          </a:xfrm>
          <a:prstGeom prst="rect">
            <a:avLst/>
          </a:prstGeom>
          <a:solidFill>
            <a:srgbClr val="E63946"/>
          </a:solidFill>
          <a:ln w="6350">
            <a:solidFill>
              <a:srgbClr val="9B1D2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54614" y="1325880"/>
            <a:ext cx="1813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Total Orders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8313894" y="1325880"/>
            <a:ext cx="3660420" cy="338328"/>
          </a:xfrm>
          <a:prstGeom prst="rect">
            <a:avLst/>
          </a:prstGeom>
          <a:solidFill>
            <a:srgbClr val="E63946"/>
          </a:solidFill>
          <a:ln w="6350">
            <a:solidFill>
              <a:srgbClr val="9B1D2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405334" y="1325880"/>
            <a:ext cx="1813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Volume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4412454" y="1673352"/>
            <a:ext cx="195072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03894" y="1673352"/>
            <a:ext cx="181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Monday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6363174" y="1673352"/>
            <a:ext cx="195072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54614" y="1673352"/>
            <a:ext cx="181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2,794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8313894" y="1690306"/>
            <a:ext cx="195072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405334" y="1673352"/>
            <a:ext cx="181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8405334" y="1719072"/>
            <a:ext cx="2563499" cy="201168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1007292" y="1673352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2,794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4412454" y="1993392"/>
            <a:ext cx="1950720" cy="301752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503894" y="1993392"/>
            <a:ext cx="181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Tuesday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Shape 27"/>
          <p:cNvSpPr/>
          <p:nvPr/>
        </p:nvSpPr>
        <p:spPr>
          <a:xfrm>
            <a:off x="6363174" y="1993392"/>
            <a:ext cx="1950720" cy="301752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454614" y="1993392"/>
            <a:ext cx="181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2,973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Shape 29"/>
          <p:cNvSpPr/>
          <p:nvPr/>
        </p:nvSpPr>
        <p:spPr>
          <a:xfrm>
            <a:off x="8313894" y="1993392"/>
            <a:ext cx="1950720" cy="301752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405334" y="1993392"/>
            <a:ext cx="181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8405334" y="2039112"/>
            <a:ext cx="2727732" cy="201168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1177629" y="1986915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2,973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Shape 33"/>
          <p:cNvSpPr/>
          <p:nvPr/>
        </p:nvSpPr>
        <p:spPr>
          <a:xfrm>
            <a:off x="4412454" y="2313432"/>
            <a:ext cx="195072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503894" y="2313432"/>
            <a:ext cx="181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Wednesday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Shape 35"/>
          <p:cNvSpPr/>
          <p:nvPr/>
        </p:nvSpPr>
        <p:spPr>
          <a:xfrm>
            <a:off x="6363174" y="2313432"/>
            <a:ext cx="195072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454614" y="2313432"/>
            <a:ext cx="181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3,024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Shape 37"/>
          <p:cNvSpPr/>
          <p:nvPr/>
        </p:nvSpPr>
        <p:spPr>
          <a:xfrm>
            <a:off x="8313894" y="2313432"/>
            <a:ext cx="195072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8405334" y="2313432"/>
            <a:ext cx="181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8405334" y="2359152"/>
            <a:ext cx="2774524" cy="201168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11239974" y="2319909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3,024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Shape 41"/>
          <p:cNvSpPr/>
          <p:nvPr/>
        </p:nvSpPr>
        <p:spPr>
          <a:xfrm>
            <a:off x="4412454" y="2633472"/>
            <a:ext cx="1950720" cy="301752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4503894" y="2633472"/>
            <a:ext cx="181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Thursday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Shape 43"/>
          <p:cNvSpPr/>
          <p:nvPr/>
        </p:nvSpPr>
        <p:spPr>
          <a:xfrm>
            <a:off x="6363174" y="2633472"/>
            <a:ext cx="1950720" cy="301752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454614" y="2633472"/>
            <a:ext cx="181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3,239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Shape 45"/>
          <p:cNvSpPr/>
          <p:nvPr/>
        </p:nvSpPr>
        <p:spPr>
          <a:xfrm>
            <a:off x="8313894" y="2633472"/>
            <a:ext cx="1950720" cy="301752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8405334" y="2633472"/>
            <a:ext cx="181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8405334" y="2679192"/>
            <a:ext cx="2971787" cy="201168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11411712" y="2633472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3,239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Shape 49"/>
          <p:cNvSpPr/>
          <p:nvPr/>
        </p:nvSpPr>
        <p:spPr>
          <a:xfrm>
            <a:off x="4412454" y="2953512"/>
            <a:ext cx="195072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4503894" y="2953512"/>
            <a:ext cx="181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Friday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Shape 51"/>
          <p:cNvSpPr/>
          <p:nvPr/>
        </p:nvSpPr>
        <p:spPr>
          <a:xfrm>
            <a:off x="6363174" y="2953512"/>
            <a:ext cx="195072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6454614" y="2953512"/>
            <a:ext cx="181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3,538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Shape 53"/>
          <p:cNvSpPr/>
          <p:nvPr/>
        </p:nvSpPr>
        <p:spPr>
          <a:xfrm>
            <a:off x="8313894" y="2953512"/>
            <a:ext cx="195072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8405334" y="2953512"/>
            <a:ext cx="181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58" name="Shape 55"/>
          <p:cNvSpPr/>
          <p:nvPr/>
        </p:nvSpPr>
        <p:spPr>
          <a:xfrm>
            <a:off x="8405334" y="2999232"/>
            <a:ext cx="3246120" cy="20116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11732571" y="2941701"/>
            <a:ext cx="28853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63946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3,538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Shape 57"/>
          <p:cNvSpPr/>
          <p:nvPr/>
        </p:nvSpPr>
        <p:spPr>
          <a:xfrm>
            <a:off x="4412454" y="3273552"/>
            <a:ext cx="1950720" cy="301752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4503894" y="3273552"/>
            <a:ext cx="181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Saturday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Shape 59"/>
          <p:cNvSpPr/>
          <p:nvPr/>
        </p:nvSpPr>
        <p:spPr>
          <a:xfrm>
            <a:off x="6363174" y="3273552"/>
            <a:ext cx="1950720" cy="301752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6454614" y="3273552"/>
            <a:ext cx="181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3,158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4" name="Shape 61"/>
          <p:cNvSpPr/>
          <p:nvPr/>
        </p:nvSpPr>
        <p:spPr>
          <a:xfrm>
            <a:off x="8313894" y="3273552"/>
            <a:ext cx="1950720" cy="301752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8405334" y="3273552"/>
            <a:ext cx="181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66" name="Shape 63"/>
          <p:cNvSpPr/>
          <p:nvPr/>
        </p:nvSpPr>
        <p:spPr>
          <a:xfrm>
            <a:off x="8405334" y="3319272"/>
            <a:ext cx="2897469" cy="201168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11365992" y="3273552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3,158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Shape 65"/>
          <p:cNvSpPr/>
          <p:nvPr/>
        </p:nvSpPr>
        <p:spPr>
          <a:xfrm>
            <a:off x="4412454" y="3593592"/>
            <a:ext cx="195072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4503894" y="3593592"/>
            <a:ext cx="181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Sunday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" name="Shape 67"/>
          <p:cNvSpPr/>
          <p:nvPr/>
        </p:nvSpPr>
        <p:spPr>
          <a:xfrm>
            <a:off x="6363174" y="3593592"/>
            <a:ext cx="195072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6454614" y="3593592"/>
            <a:ext cx="181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2,624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" name="Shape 69"/>
          <p:cNvSpPr/>
          <p:nvPr/>
        </p:nvSpPr>
        <p:spPr>
          <a:xfrm>
            <a:off x="8313894" y="3593592"/>
            <a:ext cx="195072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8405334" y="3593592"/>
            <a:ext cx="181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74" name="Shape 71"/>
          <p:cNvSpPr/>
          <p:nvPr/>
        </p:nvSpPr>
        <p:spPr>
          <a:xfrm>
            <a:off x="8405334" y="3639312"/>
            <a:ext cx="2407524" cy="201168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10891323" y="3593592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2,624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6" name="Shape 73"/>
          <p:cNvSpPr/>
          <p:nvPr/>
        </p:nvSpPr>
        <p:spPr>
          <a:xfrm>
            <a:off x="4412454" y="3977640"/>
            <a:ext cx="7561860" cy="658368"/>
          </a:xfrm>
          <a:prstGeom prst="rect">
            <a:avLst/>
          </a:prstGeom>
          <a:solidFill>
            <a:srgbClr val="FDECEA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4412454" y="3977640"/>
            <a:ext cx="82296" cy="65836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78" name="Text 75"/>
          <p:cNvSpPr/>
          <p:nvPr/>
        </p:nvSpPr>
        <p:spPr>
          <a:xfrm>
            <a:off x="4613622" y="3977640"/>
            <a:ext cx="725833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90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💡  Friday is the peak day with 3,538 orders — 34.7% more than Sunday (slowest at 2,624). Weekdays Thu–Sat consistently outperform Mon–Wed. Schedule maximum staff on Fri–Sat and consider lunch promotions on low-traffic days.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9" name="Shape 76"/>
          <p:cNvSpPr/>
          <p:nvPr/>
        </p:nvSpPr>
        <p:spPr>
          <a:xfrm>
            <a:off x="4412454" y="4754880"/>
            <a:ext cx="7561860" cy="502920"/>
          </a:xfrm>
          <a:prstGeom prst="rect">
            <a:avLst/>
          </a:prstGeom>
          <a:solidFill>
            <a:srgbClr val="FDECEA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4412454" y="4754880"/>
            <a:ext cx="82296" cy="5029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81" name="Text 78"/>
          <p:cNvSpPr/>
          <p:nvPr/>
        </p:nvSpPr>
        <p:spPr>
          <a:xfrm>
            <a:off x="4613622" y="4754880"/>
            <a:ext cx="72583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💡  The range between busiest (Fri 3,538) and slowest (Sun 2,624) day is 914 orders — significant enough to justify dynamic staffing and day-specific promotions.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Rectangle 0"/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804672"/>
            <a:ext cx="12188952" cy="3657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73152" cy="601675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0"/>
            <a:ext cx="10058400" cy="804672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sz="2100" b="1" i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REVENUE BY HOUR OF 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32688"/>
            <a:ext cx="5029200" cy="18288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932688"/>
            <a:ext cx="5029200" cy="54864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00600" y="1014984"/>
            <a:ext cx="594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6B7280"/>
                </a:solidFill>
                <a:latin typeface="Consolas"/>
              </a:rPr>
              <a:t>MySQL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4265" y="1029614"/>
            <a:ext cx="4800600" cy="1371600"/>
          </a:xfrm>
          <a:prstGeom prst="rect">
            <a:avLst/>
          </a:prstGeom>
          <a:noFill/>
        </p:spPr>
        <p:txBody>
          <a:bodyPr wrap="none"/>
          <a:lstStyle/>
          <a:p>
            <a:pPr>
              <a:lnSpc>
                <a:spcPts val="1049"/>
              </a:lnSpc>
              <a:spcBef>
                <a:spcPts val="0"/>
              </a:spcBef>
              <a:spcAft>
                <a:spcPts val="0"/>
              </a:spcAft>
            </a:pPr>
            <a:r>
              <a:rPr sz="750" dirty="0">
                <a:solidFill>
                  <a:srgbClr val="CBD5E1"/>
                </a:solidFill>
                <a:latin typeface="Consolas"/>
              </a:rPr>
              <a:t>WITH revenue AS (</a:t>
            </a:r>
          </a:p>
          <a:p>
            <a:pPr>
              <a:lnSpc>
                <a:spcPts val="1049"/>
              </a:lnSpc>
              <a:spcBef>
                <a:spcPts val="0"/>
              </a:spcBef>
              <a:spcAft>
                <a:spcPts val="0"/>
              </a:spcAft>
            </a:pPr>
            <a:r>
              <a:rPr sz="750" dirty="0">
                <a:solidFill>
                  <a:srgbClr val="CBD5E1"/>
                </a:solidFill>
                <a:latin typeface="Consolas"/>
              </a:rPr>
              <a:t>  SELECT *,</a:t>
            </a:r>
          </a:p>
          <a:p>
            <a:pPr>
              <a:lnSpc>
                <a:spcPts val="1049"/>
              </a:lnSpc>
              <a:spcBef>
                <a:spcPts val="0"/>
              </a:spcBef>
              <a:spcAft>
                <a:spcPts val="0"/>
              </a:spcAft>
            </a:pPr>
            <a:r>
              <a:rPr sz="750" dirty="0">
                <a:solidFill>
                  <a:srgbClr val="CBD5E1"/>
                </a:solidFill>
                <a:latin typeface="Consolas"/>
              </a:rPr>
              <a:t>    </a:t>
            </a:r>
            <a:r>
              <a:rPr sz="750" dirty="0" err="1">
                <a:solidFill>
                  <a:srgbClr val="CBD5E1"/>
                </a:solidFill>
                <a:latin typeface="Consolas"/>
              </a:rPr>
              <a:t>od.quantity</a:t>
            </a:r>
            <a:r>
              <a:rPr sz="750" dirty="0">
                <a:solidFill>
                  <a:srgbClr val="CBD5E1"/>
                </a:solidFill>
                <a:latin typeface="Consolas"/>
              </a:rPr>
              <a:t> * </a:t>
            </a:r>
            <a:r>
              <a:rPr sz="750" dirty="0" err="1">
                <a:solidFill>
                  <a:srgbClr val="CBD5E1"/>
                </a:solidFill>
                <a:latin typeface="Consolas"/>
              </a:rPr>
              <a:t>p.price</a:t>
            </a:r>
            <a:r>
              <a:rPr sz="750" dirty="0">
                <a:solidFill>
                  <a:srgbClr val="CBD5E1"/>
                </a:solidFill>
                <a:latin typeface="Consolas"/>
              </a:rPr>
              <a:t> AS revenue</a:t>
            </a:r>
          </a:p>
          <a:p>
            <a:pPr>
              <a:lnSpc>
                <a:spcPts val="1049"/>
              </a:lnSpc>
              <a:spcBef>
                <a:spcPts val="0"/>
              </a:spcBef>
              <a:spcAft>
                <a:spcPts val="0"/>
              </a:spcAft>
            </a:pPr>
            <a:r>
              <a:rPr sz="750" dirty="0">
                <a:solidFill>
                  <a:srgbClr val="CBD5E1"/>
                </a:solidFill>
                <a:latin typeface="Consolas"/>
              </a:rPr>
              <a:t>  FROM </a:t>
            </a:r>
            <a:r>
              <a:rPr sz="750" dirty="0" err="1">
                <a:solidFill>
                  <a:srgbClr val="CBD5E1"/>
                </a:solidFill>
                <a:latin typeface="Consolas"/>
              </a:rPr>
              <a:t>order_details</a:t>
            </a:r>
            <a:r>
              <a:rPr sz="750" dirty="0">
                <a:solidFill>
                  <a:srgbClr val="CBD5E1"/>
                </a:solidFill>
                <a:latin typeface="Consolas"/>
              </a:rPr>
              <a:t> od</a:t>
            </a:r>
          </a:p>
          <a:p>
            <a:pPr>
              <a:lnSpc>
                <a:spcPts val="1049"/>
              </a:lnSpc>
              <a:spcBef>
                <a:spcPts val="0"/>
              </a:spcBef>
              <a:spcAft>
                <a:spcPts val="0"/>
              </a:spcAft>
            </a:pPr>
            <a:r>
              <a:rPr sz="750" dirty="0">
                <a:solidFill>
                  <a:srgbClr val="CBD5E1"/>
                </a:solidFill>
                <a:latin typeface="Consolas"/>
              </a:rPr>
              <a:t>  JOIN pizzas p USING(</a:t>
            </a:r>
            <a:r>
              <a:rPr sz="750" dirty="0" err="1">
                <a:solidFill>
                  <a:srgbClr val="CBD5E1"/>
                </a:solidFill>
                <a:latin typeface="Consolas"/>
              </a:rPr>
              <a:t>pizza_id</a:t>
            </a:r>
            <a:r>
              <a:rPr sz="750" dirty="0">
                <a:solidFill>
                  <a:srgbClr val="CBD5E1"/>
                </a:solidFill>
                <a:latin typeface="Consolas"/>
              </a:rPr>
              <a:t>)</a:t>
            </a:r>
          </a:p>
          <a:p>
            <a:pPr>
              <a:lnSpc>
                <a:spcPts val="1049"/>
              </a:lnSpc>
              <a:spcBef>
                <a:spcPts val="0"/>
              </a:spcBef>
              <a:spcAft>
                <a:spcPts val="0"/>
              </a:spcAft>
            </a:pPr>
            <a:r>
              <a:rPr sz="750" dirty="0">
                <a:solidFill>
                  <a:srgbClr val="CBD5E1"/>
                </a:solidFill>
                <a:latin typeface="Consolas"/>
              </a:rPr>
              <a:t>)</a:t>
            </a:r>
          </a:p>
          <a:p>
            <a:pPr>
              <a:lnSpc>
                <a:spcPts val="1049"/>
              </a:lnSpc>
              <a:spcBef>
                <a:spcPts val="0"/>
              </a:spcBef>
              <a:spcAft>
                <a:spcPts val="0"/>
              </a:spcAft>
            </a:pPr>
            <a:r>
              <a:rPr sz="750" dirty="0">
                <a:solidFill>
                  <a:srgbClr val="CBD5E1"/>
                </a:solidFill>
                <a:latin typeface="Consolas"/>
              </a:rPr>
              <a:t>SELECT</a:t>
            </a:r>
          </a:p>
          <a:p>
            <a:pPr>
              <a:lnSpc>
                <a:spcPts val="1049"/>
              </a:lnSpc>
              <a:spcBef>
                <a:spcPts val="0"/>
              </a:spcBef>
              <a:spcAft>
                <a:spcPts val="0"/>
              </a:spcAft>
            </a:pPr>
            <a:r>
              <a:rPr sz="750" dirty="0">
                <a:solidFill>
                  <a:srgbClr val="CBD5E1"/>
                </a:solidFill>
                <a:latin typeface="Consolas"/>
              </a:rPr>
              <a:t>  HOUR(</a:t>
            </a:r>
            <a:r>
              <a:rPr sz="750" dirty="0" err="1">
                <a:solidFill>
                  <a:srgbClr val="CBD5E1"/>
                </a:solidFill>
                <a:latin typeface="Consolas"/>
              </a:rPr>
              <a:t>o.time</a:t>
            </a:r>
            <a:r>
              <a:rPr sz="750" dirty="0">
                <a:solidFill>
                  <a:srgbClr val="CBD5E1"/>
                </a:solidFill>
                <a:latin typeface="Consolas"/>
              </a:rPr>
              <a:t>)             AS hour,</a:t>
            </a:r>
          </a:p>
          <a:p>
            <a:pPr>
              <a:lnSpc>
                <a:spcPts val="1049"/>
              </a:lnSpc>
              <a:spcBef>
                <a:spcPts val="0"/>
              </a:spcBef>
              <a:spcAft>
                <a:spcPts val="0"/>
              </a:spcAft>
            </a:pPr>
            <a:r>
              <a:rPr sz="750" dirty="0">
                <a:solidFill>
                  <a:srgbClr val="CBD5E1"/>
                </a:solidFill>
                <a:latin typeface="Consolas"/>
              </a:rPr>
              <a:t>  ROUND(SUM(</a:t>
            </a:r>
            <a:r>
              <a:rPr sz="750" dirty="0" err="1">
                <a:solidFill>
                  <a:srgbClr val="CBD5E1"/>
                </a:solidFill>
                <a:latin typeface="Consolas"/>
              </a:rPr>
              <a:t>r.revenue</a:t>
            </a:r>
            <a:r>
              <a:rPr sz="750" dirty="0">
                <a:solidFill>
                  <a:srgbClr val="CBD5E1"/>
                </a:solidFill>
                <a:latin typeface="Consolas"/>
              </a:rPr>
              <a:t>), 2) AS </a:t>
            </a:r>
            <a:r>
              <a:rPr sz="750" dirty="0" err="1">
                <a:solidFill>
                  <a:srgbClr val="CBD5E1"/>
                </a:solidFill>
                <a:latin typeface="Consolas"/>
              </a:rPr>
              <a:t>total_revenue</a:t>
            </a:r>
            <a:endParaRPr sz="750" dirty="0">
              <a:solidFill>
                <a:srgbClr val="CBD5E1"/>
              </a:solidFill>
              <a:latin typeface="Consolas"/>
            </a:endParaRPr>
          </a:p>
          <a:p>
            <a:pPr>
              <a:lnSpc>
                <a:spcPts val="1049"/>
              </a:lnSpc>
              <a:spcBef>
                <a:spcPts val="0"/>
              </a:spcBef>
              <a:spcAft>
                <a:spcPts val="0"/>
              </a:spcAft>
            </a:pPr>
            <a:r>
              <a:rPr sz="750" dirty="0">
                <a:solidFill>
                  <a:srgbClr val="CBD5E1"/>
                </a:solidFill>
                <a:latin typeface="Consolas"/>
              </a:rPr>
              <a:t>FROM revenue r</a:t>
            </a:r>
          </a:p>
          <a:p>
            <a:pPr>
              <a:lnSpc>
                <a:spcPts val="1049"/>
              </a:lnSpc>
              <a:spcBef>
                <a:spcPts val="0"/>
              </a:spcBef>
              <a:spcAft>
                <a:spcPts val="0"/>
              </a:spcAft>
            </a:pPr>
            <a:r>
              <a:rPr sz="750" dirty="0">
                <a:solidFill>
                  <a:srgbClr val="CBD5E1"/>
                </a:solidFill>
                <a:latin typeface="Consolas"/>
              </a:rPr>
              <a:t>JOIN orders o USING(</a:t>
            </a:r>
            <a:r>
              <a:rPr sz="750" dirty="0" err="1">
                <a:solidFill>
                  <a:srgbClr val="CBD5E1"/>
                </a:solidFill>
                <a:latin typeface="Consolas"/>
              </a:rPr>
              <a:t>order_id</a:t>
            </a:r>
            <a:r>
              <a:rPr sz="750" dirty="0">
                <a:solidFill>
                  <a:srgbClr val="CBD5E1"/>
                </a:solidFill>
                <a:latin typeface="Consolas"/>
              </a:rPr>
              <a:t>)</a:t>
            </a:r>
          </a:p>
          <a:p>
            <a:pPr>
              <a:lnSpc>
                <a:spcPts val="1049"/>
              </a:lnSpc>
              <a:spcBef>
                <a:spcPts val="0"/>
              </a:spcBef>
              <a:spcAft>
                <a:spcPts val="0"/>
              </a:spcAft>
            </a:pPr>
            <a:r>
              <a:rPr sz="750" dirty="0">
                <a:solidFill>
                  <a:srgbClr val="CBD5E1"/>
                </a:solidFill>
                <a:latin typeface="Consolas"/>
              </a:rPr>
              <a:t>GROUP BY hour</a:t>
            </a:r>
          </a:p>
          <a:p>
            <a:pPr>
              <a:lnSpc>
                <a:spcPts val="1049"/>
              </a:lnSpc>
              <a:spcBef>
                <a:spcPts val="0"/>
              </a:spcBef>
              <a:spcAft>
                <a:spcPts val="0"/>
              </a:spcAft>
            </a:pPr>
            <a:r>
              <a:rPr sz="750" dirty="0">
                <a:solidFill>
                  <a:srgbClr val="CBD5E1"/>
                </a:solidFill>
                <a:latin typeface="Consolas"/>
              </a:rPr>
              <a:t>ORDER BY hour;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889504"/>
            <a:ext cx="1676400" cy="329184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30352" y="2889504"/>
            <a:ext cx="158495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50" b="1" i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Hour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33599" y="2889504"/>
            <a:ext cx="1676400" cy="329184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206752" y="2889504"/>
            <a:ext cx="158495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50" b="1" i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Revenue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09999" y="2889504"/>
            <a:ext cx="1676400" cy="329184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883151" y="2889504"/>
            <a:ext cx="158495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50" b="1" i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182112"/>
            <a:ext cx="1676400" cy="20574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21208" y="3182112"/>
            <a:ext cx="1594103" cy="2057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 dirty="0">
                <a:solidFill>
                  <a:srgbClr val="3741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 AM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33599" y="3182112"/>
            <a:ext cx="1676400" cy="20574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197607" y="3182112"/>
            <a:ext cx="1594103" cy="2057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3741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$83.45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09999" y="3182112"/>
            <a:ext cx="1676400" cy="20574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874007" y="3182112"/>
            <a:ext cx="1594103" cy="2057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3741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395167"/>
            <a:ext cx="1676400" cy="205740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21208" y="3395167"/>
            <a:ext cx="1594103" cy="2057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3741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 AM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133599" y="3395167"/>
            <a:ext cx="1676400" cy="205740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197607" y="3395167"/>
            <a:ext cx="1594103" cy="2057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3741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$303.65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09999" y="3395167"/>
            <a:ext cx="1676400" cy="205740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874007" y="3395167"/>
            <a:ext cx="1594103" cy="2057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16A3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▲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608222"/>
            <a:ext cx="1676400" cy="20574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21208" y="3608222"/>
            <a:ext cx="1594103" cy="2057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3741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 AM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33599" y="3608222"/>
            <a:ext cx="1676400" cy="20574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197607" y="3608222"/>
            <a:ext cx="1594103" cy="2057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3741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$44,935.80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09999" y="3608222"/>
            <a:ext cx="1676400" cy="20574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874007" y="3608222"/>
            <a:ext cx="1594103" cy="2057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16A3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▲ Peak starts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3821277"/>
            <a:ext cx="1676400" cy="205740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21208" y="3821277"/>
            <a:ext cx="1594103" cy="2057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1" i="0">
                <a:solidFill>
                  <a:srgbClr val="E6394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 PM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33599" y="3821277"/>
            <a:ext cx="1676400" cy="205740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197607" y="3821277"/>
            <a:ext cx="1594103" cy="2057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1" i="0">
                <a:solidFill>
                  <a:srgbClr val="E6394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$111,877.90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809999" y="3821277"/>
            <a:ext cx="1676400" cy="205740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874007" y="3821277"/>
            <a:ext cx="1594103" cy="2057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16A3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★ Highest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4034332"/>
            <a:ext cx="1676400" cy="20574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21208" y="4034332"/>
            <a:ext cx="1594103" cy="2057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3741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PM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133599" y="4034332"/>
            <a:ext cx="1676400" cy="20574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2197607" y="4034332"/>
            <a:ext cx="1594103" cy="2057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3741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$106,065.70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809999" y="4034332"/>
            <a:ext cx="1676400" cy="20574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874007" y="4034332"/>
            <a:ext cx="1594103" cy="2057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3741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↘ −5.2%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4247388"/>
            <a:ext cx="1676400" cy="205740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21208" y="4247388"/>
            <a:ext cx="1594103" cy="2057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3741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PM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133599" y="4247388"/>
            <a:ext cx="1676400" cy="205740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2197607" y="4247388"/>
            <a:ext cx="1594103" cy="2057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3741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$59,201.40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809999" y="4247388"/>
            <a:ext cx="1676400" cy="205740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3874007" y="4247388"/>
            <a:ext cx="1594103" cy="2057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E6394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▼ −44.2%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4460443"/>
            <a:ext cx="1676400" cy="20574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21208" y="4460443"/>
            <a:ext cx="1594103" cy="2057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3741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 PM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133599" y="4460443"/>
            <a:ext cx="1676400" cy="20574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197607" y="4460443"/>
            <a:ext cx="1594103" cy="2057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3741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$52,992.30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809999" y="4460443"/>
            <a:ext cx="1676400" cy="20574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3874007" y="4460443"/>
            <a:ext cx="1594103" cy="2057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E6394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▼ −10.5%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57200" y="4673498"/>
            <a:ext cx="1676400" cy="205740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21208" y="4673498"/>
            <a:ext cx="1594103" cy="2057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3741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 PM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133599" y="4673498"/>
            <a:ext cx="1676400" cy="205740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2197607" y="4673498"/>
            <a:ext cx="1594103" cy="2057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3741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$70,055.40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809999" y="4673498"/>
            <a:ext cx="1676400" cy="205740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3874007" y="4673498"/>
            <a:ext cx="1594103" cy="2057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16A3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▲ +32.2%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57200" y="4886553"/>
            <a:ext cx="1676400" cy="20574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521208" y="4886553"/>
            <a:ext cx="1594103" cy="2057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3741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 PM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133599" y="4886553"/>
            <a:ext cx="1676400" cy="20574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2197607" y="4886553"/>
            <a:ext cx="1594103" cy="2057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3741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$86,237.45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809999" y="4886553"/>
            <a:ext cx="1676400" cy="20574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3874007" y="4886553"/>
            <a:ext cx="1594103" cy="2057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16A3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▲ +23.1%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57200" y="5099608"/>
            <a:ext cx="1676400" cy="205740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521208" y="5099608"/>
            <a:ext cx="1594103" cy="2057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1" i="0">
                <a:solidFill>
                  <a:srgbClr val="E6394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 PM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133599" y="5099608"/>
            <a:ext cx="1676400" cy="205740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2197607" y="5099608"/>
            <a:ext cx="1594103" cy="2057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1" i="0">
                <a:solidFill>
                  <a:srgbClr val="E6394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$89,296.85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809999" y="5099608"/>
            <a:ext cx="1676400" cy="205740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3874007" y="5099608"/>
            <a:ext cx="1594103" cy="2057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16A3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★ Highest (PM)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57200" y="5312664"/>
            <a:ext cx="1676400" cy="20574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521208" y="5312664"/>
            <a:ext cx="1594103" cy="2057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3741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 PM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133599" y="5312664"/>
            <a:ext cx="1676400" cy="20574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2197607" y="5312664"/>
            <a:ext cx="1594103" cy="2057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3741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$72,628.90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809999" y="5312664"/>
            <a:ext cx="1676400" cy="20574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3874007" y="5312664"/>
            <a:ext cx="1594103" cy="2057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E6394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▼ −18.7%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57200" y="5525719"/>
            <a:ext cx="1676400" cy="205740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521208" y="5525719"/>
            <a:ext cx="1594103" cy="2057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3741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 PM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133599" y="5525719"/>
            <a:ext cx="1676400" cy="205740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2197607" y="5525719"/>
            <a:ext cx="1594103" cy="2057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3741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$58,215.40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809999" y="5525719"/>
            <a:ext cx="1676400" cy="205740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3874007" y="5525719"/>
            <a:ext cx="1594103" cy="2057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E6394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▼ −19.8%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57200" y="5738774"/>
            <a:ext cx="1676400" cy="20574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521208" y="5738774"/>
            <a:ext cx="1594103" cy="2057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3741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 PM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133599" y="5738774"/>
            <a:ext cx="1676400" cy="20574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2197607" y="5738774"/>
            <a:ext cx="1594103" cy="2057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3741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$42,029.80</a:t>
            </a:r>
          </a:p>
        </p:txBody>
      </p:sp>
      <p:sp>
        <p:nvSpPr>
          <p:cNvPr id="95" name="Rectangle 94"/>
          <p:cNvSpPr/>
          <p:nvPr/>
        </p:nvSpPr>
        <p:spPr>
          <a:xfrm>
            <a:off x="3809999" y="5738774"/>
            <a:ext cx="1676400" cy="20574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3874007" y="5738774"/>
            <a:ext cx="1594103" cy="2057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E6394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▼ −27.8%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57200" y="5951829"/>
            <a:ext cx="1676400" cy="205740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521208" y="5951829"/>
            <a:ext cx="1594103" cy="2057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3741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 PM</a:t>
            </a:r>
          </a:p>
        </p:txBody>
      </p:sp>
      <p:sp>
        <p:nvSpPr>
          <p:cNvPr id="99" name="Rectangle 98"/>
          <p:cNvSpPr/>
          <p:nvPr/>
        </p:nvSpPr>
        <p:spPr>
          <a:xfrm>
            <a:off x="2133599" y="5951829"/>
            <a:ext cx="1676400" cy="205740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2197607" y="5951829"/>
            <a:ext cx="1594103" cy="2057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3741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$22,815.15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3809999" y="5951829"/>
            <a:ext cx="1676400" cy="205740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3874007" y="5951829"/>
            <a:ext cx="1594103" cy="2057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E6394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▼ −45.7%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57200" y="6164884"/>
            <a:ext cx="1676400" cy="20574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521208" y="6164884"/>
            <a:ext cx="1594103" cy="2057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3741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 PM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2133599" y="6164884"/>
            <a:ext cx="1676400" cy="20574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2197607" y="6164884"/>
            <a:ext cx="1594103" cy="2057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3741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$1,121.35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3809999" y="6164884"/>
            <a:ext cx="1676400" cy="20574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3874007" y="6164884"/>
            <a:ext cx="1594103" cy="2057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E6394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▼ −95.1%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687568" y="960120"/>
            <a:ext cx="6089904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700" b="1" i="0" dirty="0">
                <a:solidFill>
                  <a:srgbClr val="E6394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FINDING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687568" y="1207008"/>
            <a:ext cx="6089904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b="1" i="0" dirty="0">
                <a:solidFill>
                  <a:srgbClr val="1F29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Two Revenue Peaks Per Day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687568" y="1810512"/>
            <a:ext cx="1143000" cy="223113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 dirty="0">
                <a:solidFill>
                  <a:srgbClr val="3741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9–10 AM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876288" y="1837943"/>
            <a:ext cx="12945" cy="168249"/>
          </a:xfrm>
          <a:prstGeom prst="rect">
            <a:avLst/>
          </a:prstGeom>
          <a:solidFill>
            <a:srgbClr val="FC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6830568" y="1810512"/>
            <a:ext cx="1371600" cy="223113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 dirty="0"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$304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687568" y="2070201"/>
            <a:ext cx="1143000" cy="223113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3741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 AM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6876288" y="2097633"/>
            <a:ext cx="1913478" cy="168249"/>
          </a:xfrm>
          <a:prstGeom prst="rect">
            <a:avLst/>
          </a:prstGeom>
          <a:solidFill>
            <a:srgbClr val="FC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8724281" y="2062352"/>
            <a:ext cx="1371600" cy="223113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 dirty="0"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$44,936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687568" y="2329891"/>
            <a:ext cx="1143000" cy="223113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E6394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 PM ★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6876288" y="2357323"/>
            <a:ext cx="4764024" cy="168249"/>
          </a:xfrm>
          <a:prstGeom prst="rect">
            <a:avLst/>
          </a:prstGeom>
          <a:solidFill>
            <a:srgbClr val="9B1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11588496" y="2326157"/>
            <a:ext cx="1371600" cy="223113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 dirty="0">
                <a:solidFill>
                  <a:srgbClr val="9B1D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$111,878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687568" y="2589580"/>
            <a:ext cx="1143000" cy="223113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3741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PM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6876288" y="2617012"/>
            <a:ext cx="4516535" cy="168249"/>
          </a:xfrm>
          <a:prstGeom prst="rect">
            <a:avLst/>
          </a:prstGeom>
          <a:solidFill>
            <a:srgbClr val="FC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11333387" y="2589580"/>
            <a:ext cx="1371600" cy="223113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$106,066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5687568" y="2849270"/>
            <a:ext cx="1143000" cy="223113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3741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2–3 PM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6876288" y="2876702"/>
            <a:ext cx="2520915" cy="168249"/>
          </a:xfrm>
          <a:prstGeom prst="rect">
            <a:avLst/>
          </a:prstGeom>
          <a:solidFill>
            <a:srgbClr val="FC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9362024" y="2849270"/>
            <a:ext cx="1371600" cy="223113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 dirty="0"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$59,201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5687568" y="3108960"/>
            <a:ext cx="1143000" cy="223113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3741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 PM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876288" y="3136391"/>
            <a:ext cx="2983103" cy="168249"/>
          </a:xfrm>
          <a:prstGeom prst="rect">
            <a:avLst/>
          </a:prstGeom>
          <a:solidFill>
            <a:srgbClr val="FC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9811512" y="3107131"/>
            <a:ext cx="1371600" cy="223113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 dirty="0"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$70,055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5687568" y="3368649"/>
            <a:ext cx="1143000" cy="223113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3741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 PM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6876288" y="3396081"/>
            <a:ext cx="3672170" cy="168249"/>
          </a:xfrm>
          <a:prstGeom prst="rect">
            <a:avLst/>
          </a:prstGeom>
          <a:solidFill>
            <a:srgbClr val="FC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10497312" y="3357066"/>
            <a:ext cx="1371600" cy="223113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 dirty="0"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$86,237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5687568" y="3628339"/>
            <a:ext cx="1143000" cy="223113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E6394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 PM ★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6876288" y="3655771"/>
            <a:ext cx="3802472" cy="168249"/>
          </a:xfrm>
          <a:prstGeom prst="rect">
            <a:avLst/>
          </a:prstGeom>
          <a:solidFill>
            <a:srgbClr val="9B1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10609799" y="3626510"/>
            <a:ext cx="1371600" cy="223113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 dirty="0">
                <a:solidFill>
                  <a:srgbClr val="9B1D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$89,297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5687568" y="3888028"/>
            <a:ext cx="1143000" cy="223113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3741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 PM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6876288" y="3915460"/>
            <a:ext cx="3092710" cy="168249"/>
          </a:xfrm>
          <a:prstGeom prst="rect">
            <a:avLst/>
          </a:prstGeom>
          <a:solidFill>
            <a:srgbClr val="FC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TextBox 136"/>
          <p:cNvSpPr txBox="1"/>
          <p:nvPr/>
        </p:nvSpPr>
        <p:spPr>
          <a:xfrm>
            <a:off x="9936923" y="3888028"/>
            <a:ext cx="1371600" cy="223113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 dirty="0"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$72,629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5687568" y="4147718"/>
            <a:ext cx="1143000" cy="223113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3741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 PM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6876288" y="4175150"/>
            <a:ext cx="2478929" cy="168249"/>
          </a:xfrm>
          <a:prstGeom prst="rect">
            <a:avLst/>
          </a:prstGeom>
          <a:solidFill>
            <a:srgbClr val="FC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9308593" y="4147718"/>
            <a:ext cx="1371600" cy="223113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 dirty="0"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$58,215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5687568" y="4407408"/>
            <a:ext cx="1143000" cy="223113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3741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9–10 PM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6876288" y="4434840"/>
            <a:ext cx="1789734" cy="168249"/>
          </a:xfrm>
          <a:prstGeom prst="rect">
            <a:avLst/>
          </a:prstGeom>
          <a:solidFill>
            <a:srgbClr val="FC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8622793" y="4414266"/>
            <a:ext cx="1371600" cy="223113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 dirty="0"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$42,030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5687568" y="4667097"/>
            <a:ext cx="1143000" cy="223113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3741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 PM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6876288" y="4694529"/>
            <a:ext cx="47734" cy="168249"/>
          </a:xfrm>
          <a:prstGeom prst="rect">
            <a:avLst/>
          </a:prstGeom>
          <a:solidFill>
            <a:srgbClr val="FC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6978886" y="4667097"/>
            <a:ext cx="1371600" cy="223113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$1,121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5687568" y="4992624"/>
            <a:ext cx="1901952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Rectangle 147"/>
          <p:cNvSpPr/>
          <p:nvPr/>
        </p:nvSpPr>
        <p:spPr>
          <a:xfrm>
            <a:off x="5687568" y="4992624"/>
            <a:ext cx="64008" cy="868680"/>
          </a:xfrm>
          <a:prstGeom prst="rect">
            <a:avLst/>
          </a:prstGeom>
          <a:solidFill>
            <a:srgbClr val="9B1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TextBox 148"/>
          <p:cNvSpPr txBox="1"/>
          <p:nvPr/>
        </p:nvSpPr>
        <p:spPr>
          <a:xfrm>
            <a:off x="5852159" y="5047488"/>
            <a:ext cx="1700784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500" b="1" i="0" dirty="0">
                <a:solidFill>
                  <a:srgbClr val="9B1D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$111,878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5852159" y="5504688"/>
            <a:ext cx="17007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 dirty="0"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 PM — Peak Hour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7717536" y="4992624"/>
            <a:ext cx="1901952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Rectangle 151"/>
          <p:cNvSpPr/>
          <p:nvPr/>
        </p:nvSpPr>
        <p:spPr>
          <a:xfrm>
            <a:off x="7717536" y="4992624"/>
            <a:ext cx="64008" cy="86868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TextBox 152"/>
          <p:cNvSpPr txBox="1"/>
          <p:nvPr/>
        </p:nvSpPr>
        <p:spPr>
          <a:xfrm>
            <a:off x="7882127" y="5047488"/>
            <a:ext cx="1700784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500" b="1" i="0" dirty="0">
                <a:solidFill>
                  <a:srgbClr val="E6394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$89,297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7882127" y="5504688"/>
            <a:ext cx="17007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 PM — Dinner Peak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9747504" y="4992624"/>
            <a:ext cx="1901952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Rectangle 155"/>
          <p:cNvSpPr/>
          <p:nvPr/>
        </p:nvSpPr>
        <p:spPr>
          <a:xfrm>
            <a:off x="9747504" y="4992624"/>
            <a:ext cx="64008" cy="86868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TextBox 156"/>
          <p:cNvSpPr txBox="1"/>
          <p:nvPr/>
        </p:nvSpPr>
        <p:spPr>
          <a:xfrm>
            <a:off x="9912096" y="5047488"/>
            <a:ext cx="1700784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500" b="1" i="0" dirty="0"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&lt;$400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912096" y="5504688"/>
            <a:ext cx="17007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Before 11 AM &amp; After 10 PM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5687568" y="5998464"/>
            <a:ext cx="6089904" cy="566928"/>
          </a:xfrm>
          <a:prstGeom prst="rect">
            <a:avLst/>
          </a:prstGeom>
          <a:solidFill>
            <a:srgbClr val="FDECEA"/>
          </a:solidFill>
          <a:ln w="1016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Rectangle 159"/>
          <p:cNvSpPr/>
          <p:nvPr/>
        </p:nvSpPr>
        <p:spPr>
          <a:xfrm>
            <a:off x="5687568" y="5998464"/>
            <a:ext cx="64008" cy="566928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TextBox 160"/>
          <p:cNvSpPr txBox="1"/>
          <p:nvPr/>
        </p:nvSpPr>
        <p:spPr>
          <a:xfrm>
            <a:off x="5870448" y="5998464"/>
            <a:ext cx="5833872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just"/>
            <a:r>
              <a:rPr sz="900" b="0" i="0" dirty="0">
                <a:solidFill>
                  <a:srgbClr val="3741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💡  Noon ($111,878) is the #1 revenue hour — 25% higher than the next best (6 PM, $89,297). Together the lunch (11am–2pm) and dinner (5–7pm) windows generate ~68% of daily revenue. Before 11 AM and after 10 PM contribute under 0.3% combined.</a:t>
            </a:r>
          </a:p>
        </p:txBody>
      </p:sp>
    </p:spTree>
    <p:extLst>
      <p:ext uri="{BB962C8B-B14F-4D97-AF65-F5344CB8AC3E}">
        <p14:creationId xmlns:p14="http://schemas.microsoft.com/office/powerpoint/2010/main" val="21241695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C00000"/>
          </a:solidFill>
          <a:ln w="12700">
            <a:noFill/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73152" cy="6035040"/>
          </a:xfrm>
          <a:prstGeom prst="rect">
            <a:avLst/>
          </a:prstGeom>
          <a:solidFill>
            <a:srgbClr val="C00000"/>
          </a:solidFill>
          <a:ln w="12700">
            <a:noFill/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11457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kern="0" spc="200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MONTHLY REVENUE &amp; GROWTH ANALYSIS</a:t>
            </a:r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5303520" cy="5559552"/>
          </a:xfrm>
          <a:prstGeom prst="rect">
            <a:avLst/>
          </a:prstGeom>
          <a:solidFill>
            <a:srgbClr val="1E1E2E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60120"/>
            <a:ext cx="5303520" cy="7315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4632" y="1115568"/>
            <a:ext cx="91440" cy="9144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0936" y="1115568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1115568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74920" y="10515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57200" y="1307592"/>
            <a:ext cx="5074920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revenue AS (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*,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od.quantity * p.price AS revenue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order_details od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JOIN pizzas p USING(pizza_id)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MONTH(o.date) AS month,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ROUND(SUM(r.revenue),2) AS total_revenue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revenue r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orders o USING(order_id)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month;</a:t>
            </a:r>
            <a:endParaRPr lang="en-US" sz="920" dirty="0"/>
          </a:p>
        </p:txBody>
      </p:sp>
      <p:sp>
        <p:nvSpPr>
          <p:cNvPr id="13" name="Text 10"/>
          <p:cNvSpPr/>
          <p:nvPr/>
        </p:nvSpPr>
        <p:spPr>
          <a:xfrm>
            <a:off x="5989320" y="96012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Query Result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5989320" y="1325880"/>
            <a:ext cx="1950720" cy="347472"/>
          </a:xfrm>
          <a:prstGeom prst="rect">
            <a:avLst/>
          </a:prstGeom>
          <a:solidFill>
            <a:srgbClr val="E63946"/>
          </a:solidFill>
          <a:ln w="6350">
            <a:solidFill>
              <a:srgbClr val="9B1D2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080760" y="1325880"/>
            <a:ext cx="1813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Month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7940040" y="1325880"/>
            <a:ext cx="1950720" cy="347472"/>
          </a:xfrm>
          <a:prstGeom prst="rect">
            <a:avLst/>
          </a:prstGeom>
          <a:solidFill>
            <a:srgbClr val="E63946"/>
          </a:solidFill>
          <a:ln w="6350">
            <a:solidFill>
              <a:srgbClr val="9B1D2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031480" y="1325880"/>
            <a:ext cx="1813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Revenue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9890760" y="1325880"/>
            <a:ext cx="1950720" cy="347472"/>
          </a:xfrm>
          <a:prstGeom prst="rect">
            <a:avLst/>
          </a:prstGeom>
          <a:solidFill>
            <a:srgbClr val="E63946"/>
          </a:solidFill>
          <a:ln w="6350">
            <a:solidFill>
              <a:srgbClr val="9B1D2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982200" y="1325880"/>
            <a:ext cx="1813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vs Prior Month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5989320" y="1673352"/>
            <a:ext cx="195072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080760" y="1673352"/>
            <a:ext cx="181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Jan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7940040" y="1673352"/>
            <a:ext cx="195072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031480" y="1673352"/>
            <a:ext cx="181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$69,793.30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9890760" y="1673352"/>
            <a:ext cx="195072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982200" y="1673352"/>
            <a:ext cx="181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9982200" y="167335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B728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–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5989320" y="2020824"/>
            <a:ext cx="1950720" cy="301752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080760" y="2020824"/>
            <a:ext cx="181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Feb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Shape 26"/>
          <p:cNvSpPr/>
          <p:nvPr/>
        </p:nvSpPr>
        <p:spPr>
          <a:xfrm>
            <a:off x="7940040" y="2020824"/>
            <a:ext cx="1950720" cy="301752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031480" y="2020824"/>
            <a:ext cx="181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$65,159.60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9890760" y="2020824"/>
            <a:ext cx="1950720" cy="301752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982200" y="2020824"/>
            <a:ext cx="181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9982200" y="202082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63946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▼ −6.64%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Shape 31"/>
          <p:cNvSpPr/>
          <p:nvPr/>
        </p:nvSpPr>
        <p:spPr>
          <a:xfrm>
            <a:off x="5989320" y="2368296"/>
            <a:ext cx="195072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080760" y="2368296"/>
            <a:ext cx="181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Mar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Shape 33"/>
          <p:cNvSpPr/>
          <p:nvPr/>
        </p:nvSpPr>
        <p:spPr>
          <a:xfrm>
            <a:off x="7940040" y="2368296"/>
            <a:ext cx="195072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8031480" y="2368296"/>
            <a:ext cx="181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$70,397.10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Shape 35"/>
          <p:cNvSpPr/>
          <p:nvPr/>
        </p:nvSpPr>
        <p:spPr>
          <a:xfrm>
            <a:off x="9890760" y="2368296"/>
            <a:ext cx="195072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9982200" y="2368296"/>
            <a:ext cx="181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9982200" y="236829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C55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▲ +8.04%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Shape 38"/>
          <p:cNvSpPr/>
          <p:nvPr/>
        </p:nvSpPr>
        <p:spPr>
          <a:xfrm>
            <a:off x="5989320" y="2715768"/>
            <a:ext cx="1950720" cy="301752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080760" y="2715768"/>
            <a:ext cx="181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Apr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Shape 40"/>
          <p:cNvSpPr/>
          <p:nvPr/>
        </p:nvSpPr>
        <p:spPr>
          <a:xfrm>
            <a:off x="7940040" y="2715768"/>
            <a:ext cx="1950720" cy="301752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031480" y="2715768"/>
            <a:ext cx="181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$68,736.80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Shape 42"/>
          <p:cNvSpPr/>
          <p:nvPr/>
        </p:nvSpPr>
        <p:spPr>
          <a:xfrm>
            <a:off x="9890760" y="2715768"/>
            <a:ext cx="1950720" cy="301752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9982200" y="2715768"/>
            <a:ext cx="181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9982200" y="27157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63946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▼ −2.36%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Shape 45"/>
          <p:cNvSpPr/>
          <p:nvPr/>
        </p:nvSpPr>
        <p:spPr>
          <a:xfrm>
            <a:off x="5989320" y="3063240"/>
            <a:ext cx="195072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6080760" y="3063240"/>
            <a:ext cx="181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May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Shape 47"/>
          <p:cNvSpPr/>
          <p:nvPr/>
        </p:nvSpPr>
        <p:spPr>
          <a:xfrm>
            <a:off x="7940040" y="3063240"/>
            <a:ext cx="195072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8031480" y="3063240"/>
            <a:ext cx="181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$71,402.75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Shape 49"/>
          <p:cNvSpPr/>
          <p:nvPr/>
        </p:nvSpPr>
        <p:spPr>
          <a:xfrm>
            <a:off x="9890760" y="3063240"/>
            <a:ext cx="195072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9982200" y="3063240"/>
            <a:ext cx="181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54" name="Text 51"/>
          <p:cNvSpPr/>
          <p:nvPr/>
        </p:nvSpPr>
        <p:spPr>
          <a:xfrm>
            <a:off x="9982200" y="306324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C55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▲ +3.88%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Shape 52"/>
          <p:cNvSpPr/>
          <p:nvPr/>
        </p:nvSpPr>
        <p:spPr>
          <a:xfrm>
            <a:off x="5989320" y="3410712"/>
            <a:ext cx="1950720" cy="301752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6080760" y="3410712"/>
            <a:ext cx="181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Jun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Shape 54"/>
          <p:cNvSpPr/>
          <p:nvPr/>
        </p:nvSpPr>
        <p:spPr>
          <a:xfrm>
            <a:off x="7940040" y="3410712"/>
            <a:ext cx="1950720" cy="301752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8031480" y="3410712"/>
            <a:ext cx="181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$68,230.20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Shape 56"/>
          <p:cNvSpPr/>
          <p:nvPr/>
        </p:nvSpPr>
        <p:spPr>
          <a:xfrm>
            <a:off x="9890760" y="3410712"/>
            <a:ext cx="1950720" cy="301752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9982200" y="3410712"/>
            <a:ext cx="181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61" name="Text 58"/>
          <p:cNvSpPr/>
          <p:nvPr/>
        </p:nvSpPr>
        <p:spPr>
          <a:xfrm>
            <a:off x="9982200" y="341071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63946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▼ −4.44%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Shape 59"/>
          <p:cNvSpPr/>
          <p:nvPr/>
        </p:nvSpPr>
        <p:spPr>
          <a:xfrm>
            <a:off x="5989320" y="3758184"/>
            <a:ext cx="195072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6080760" y="3758184"/>
            <a:ext cx="181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Jul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4" name="Shape 61"/>
          <p:cNvSpPr/>
          <p:nvPr/>
        </p:nvSpPr>
        <p:spPr>
          <a:xfrm>
            <a:off x="7940040" y="3758184"/>
            <a:ext cx="195072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8031480" y="3758184"/>
            <a:ext cx="181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$72,557.90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Shape 63"/>
          <p:cNvSpPr/>
          <p:nvPr/>
        </p:nvSpPr>
        <p:spPr>
          <a:xfrm>
            <a:off x="9890760" y="3758184"/>
            <a:ext cx="195072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9982200" y="3758184"/>
            <a:ext cx="181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68" name="Text 65"/>
          <p:cNvSpPr/>
          <p:nvPr/>
        </p:nvSpPr>
        <p:spPr>
          <a:xfrm>
            <a:off x="9982200" y="375818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C55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▲ +6.34%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9" name="Shape 66"/>
          <p:cNvSpPr/>
          <p:nvPr/>
        </p:nvSpPr>
        <p:spPr>
          <a:xfrm>
            <a:off x="5989320" y="4105656"/>
            <a:ext cx="1950720" cy="301752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6080760" y="4105656"/>
            <a:ext cx="181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Aug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" name="Shape 68"/>
          <p:cNvSpPr/>
          <p:nvPr/>
        </p:nvSpPr>
        <p:spPr>
          <a:xfrm>
            <a:off x="7940040" y="4105656"/>
            <a:ext cx="1950720" cy="301752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8031480" y="4105656"/>
            <a:ext cx="181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$68,278.25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3" name="Shape 70"/>
          <p:cNvSpPr/>
          <p:nvPr/>
        </p:nvSpPr>
        <p:spPr>
          <a:xfrm>
            <a:off x="9890760" y="4105656"/>
            <a:ext cx="1950720" cy="301752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9982200" y="4105656"/>
            <a:ext cx="181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75" name="Text 72"/>
          <p:cNvSpPr/>
          <p:nvPr/>
        </p:nvSpPr>
        <p:spPr>
          <a:xfrm>
            <a:off x="9982200" y="410565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63946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▼ −5.90%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6" name="Shape 73"/>
          <p:cNvSpPr/>
          <p:nvPr/>
        </p:nvSpPr>
        <p:spPr>
          <a:xfrm>
            <a:off x="5989320" y="4453128"/>
            <a:ext cx="195072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6080760" y="4453128"/>
            <a:ext cx="181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Sep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8" name="Shape 75"/>
          <p:cNvSpPr/>
          <p:nvPr/>
        </p:nvSpPr>
        <p:spPr>
          <a:xfrm>
            <a:off x="7940040" y="4453128"/>
            <a:ext cx="195072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79" name="Text 76"/>
          <p:cNvSpPr/>
          <p:nvPr/>
        </p:nvSpPr>
        <p:spPr>
          <a:xfrm>
            <a:off x="8031480" y="4453128"/>
            <a:ext cx="181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$64,180.05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0" name="Shape 77"/>
          <p:cNvSpPr/>
          <p:nvPr/>
        </p:nvSpPr>
        <p:spPr>
          <a:xfrm>
            <a:off x="9890760" y="4453128"/>
            <a:ext cx="195072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81" name="Text 78"/>
          <p:cNvSpPr/>
          <p:nvPr/>
        </p:nvSpPr>
        <p:spPr>
          <a:xfrm>
            <a:off x="9982200" y="4453128"/>
            <a:ext cx="181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82" name="Text 79"/>
          <p:cNvSpPr/>
          <p:nvPr/>
        </p:nvSpPr>
        <p:spPr>
          <a:xfrm>
            <a:off x="9982200" y="445312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63946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▼ −6.00%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3" name="Shape 80"/>
          <p:cNvSpPr/>
          <p:nvPr/>
        </p:nvSpPr>
        <p:spPr>
          <a:xfrm>
            <a:off x="5989320" y="4800600"/>
            <a:ext cx="1950720" cy="301752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84" name="Text 81"/>
          <p:cNvSpPr/>
          <p:nvPr/>
        </p:nvSpPr>
        <p:spPr>
          <a:xfrm>
            <a:off x="6080760" y="4800600"/>
            <a:ext cx="181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Oct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5" name="Shape 82"/>
          <p:cNvSpPr/>
          <p:nvPr/>
        </p:nvSpPr>
        <p:spPr>
          <a:xfrm>
            <a:off x="7940040" y="4800600"/>
            <a:ext cx="1950720" cy="301752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86" name="Text 83"/>
          <p:cNvSpPr/>
          <p:nvPr/>
        </p:nvSpPr>
        <p:spPr>
          <a:xfrm>
            <a:off x="8031480" y="4800600"/>
            <a:ext cx="181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$64,027.60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7" name="Shape 84"/>
          <p:cNvSpPr/>
          <p:nvPr/>
        </p:nvSpPr>
        <p:spPr>
          <a:xfrm>
            <a:off x="9890760" y="4800600"/>
            <a:ext cx="1950720" cy="301752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88" name="Text 85"/>
          <p:cNvSpPr/>
          <p:nvPr/>
        </p:nvSpPr>
        <p:spPr>
          <a:xfrm>
            <a:off x="9982200" y="4800600"/>
            <a:ext cx="181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89" name="Text 86"/>
          <p:cNvSpPr/>
          <p:nvPr/>
        </p:nvSpPr>
        <p:spPr>
          <a:xfrm>
            <a:off x="9982200" y="48006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63946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▼ −0.24%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0" name="Shape 87"/>
          <p:cNvSpPr/>
          <p:nvPr/>
        </p:nvSpPr>
        <p:spPr>
          <a:xfrm>
            <a:off x="5989320" y="5148072"/>
            <a:ext cx="195072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91" name="Text 88"/>
          <p:cNvSpPr/>
          <p:nvPr/>
        </p:nvSpPr>
        <p:spPr>
          <a:xfrm>
            <a:off x="6080760" y="5148072"/>
            <a:ext cx="181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Nov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2" name="Shape 89"/>
          <p:cNvSpPr/>
          <p:nvPr/>
        </p:nvSpPr>
        <p:spPr>
          <a:xfrm>
            <a:off x="7940040" y="5148072"/>
            <a:ext cx="195072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93" name="Text 90"/>
          <p:cNvSpPr/>
          <p:nvPr/>
        </p:nvSpPr>
        <p:spPr>
          <a:xfrm>
            <a:off x="8031480" y="5148072"/>
            <a:ext cx="181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$70,395.35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4" name="Shape 91"/>
          <p:cNvSpPr/>
          <p:nvPr/>
        </p:nvSpPr>
        <p:spPr>
          <a:xfrm>
            <a:off x="9890760" y="5148072"/>
            <a:ext cx="195072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95" name="Text 92"/>
          <p:cNvSpPr/>
          <p:nvPr/>
        </p:nvSpPr>
        <p:spPr>
          <a:xfrm>
            <a:off x="9982200" y="5148072"/>
            <a:ext cx="181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96" name="Text 93"/>
          <p:cNvSpPr/>
          <p:nvPr/>
        </p:nvSpPr>
        <p:spPr>
          <a:xfrm>
            <a:off x="9982200" y="51480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C55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▲ +9.95%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7" name="Shape 94"/>
          <p:cNvSpPr/>
          <p:nvPr/>
        </p:nvSpPr>
        <p:spPr>
          <a:xfrm>
            <a:off x="5989320" y="5495544"/>
            <a:ext cx="1950720" cy="301752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98" name="Text 95"/>
          <p:cNvSpPr/>
          <p:nvPr/>
        </p:nvSpPr>
        <p:spPr>
          <a:xfrm>
            <a:off x="6080760" y="5495544"/>
            <a:ext cx="181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Dec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9" name="Shape 96"/>
          <p:cNvSpPr/>
          <p:nvPr/>
        </p:nvSpPr>
        <p:spPr>
          <a:xfrm>
            <a:off x="7940040" y="5495544"/>
            <a:ext cx="1950720" cy="301752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100" name="Text 97"/>
          <p:cNvSpPr/>
          <p:nvPr/>
        </p:nvSpPr>
        <p:spPr>
          <a:xfrm>
            <a:off x="8031480" y="5495544"/>
            <a:ext cx="181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$64,701.15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1" name="Shape 98"/>
          <p:cNvSpPr/>
          <p:nvPr/>
        </p:nvSpPr>
        <p:spPr>
          <a:xfrm>
            <a:off x="9890760" y="5495544"/>
            <a:ext cx="1950720" cy="301752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102" name="Text 99"/>
          <p:cNvSpPr/>
          <p:nvPr/>
        </p:nvSpPr>
        <p:spPr>
          <a:xfrm>
            <a:off x="9982200" y="5495544"/>
            <a:ext cx="181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03" name="Text 100"/>
          <p:cNvSpPr/>
          <p:nvPr/>
        </p:nvSpPr>
        <p:spPr>
          <a:xfrm>
            <a:off x="9982200" y="549554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63946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▼ −8.09%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" name="Shape 101"/>
          <p:cNvSpPr/>
          <p:nvPr/>
        </p:nvSpPr>
        <p:spPr>
          <a:xfrm>
            <a:off x="5989320" y="5897880"/>
            <a:ext cx="5852160" cy="621792"/>
          </a:xfrm>
          <a:prstGeom prst="rect">
            <a:avLst/>
          </a:prstGeom>
          <a:solidFill>
            <a:srgbClr val="FDECEA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05" name="Shape 102"/>
          <p:cNvSpPr/>
          <p:nvPr/>
        </p:nvSpPr>
        <p:spPr>
          <a:xfrm>
            <a:off x="5989320" y="5897880"/>
            <a:ext cx="82296" cy="62179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06" name="Text 103"/>
          <p:cNvSpPr/>
          <p:nvPr/>
        </p:nvSpPr>
        <p:spPr>
          <a:xfrm>
            <a:off x="6190488" y="5897880"/>
            <a:ext cx="5559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90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💡  July is the top month at $72,558 (+6.34%), while Oct is the weakest at $64,028. Revenue oscillates in a narrow $8K band — the business is stable but flat. Nov spikes +9.95% (holiday pre-season) before Dec drops −8.09%. Q4 recovery campaign needed.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C00000"/>
          </a:solidFill>
          <a:ln w="12700">
            <a:noFill/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73152" cy="6035040"/>
          </a:xfrm>
          <a:prstGeom prst="rect">
            <a:avLst/>
          </a:prstGeom>
          <a:solidFill>
            <a:srgbClr val="C00000"/>
          </a:solidFill>
          <a:ln w="12700">
            <a:noFill/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11457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kern="0" spc="200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TOTAL SALES BY PIZZA CATEGORY</a:t>
            </a:r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5303520" cy="5396556"/>
          </a:xfrm>
          <a:prstGeom prst="rect">
            <a:avLst/>
          </a:prstGeom>
          <a:solidFill>
            <a:srgbClr val="1E1E2E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60120"/>
            <a:ext cx="5303520" cy="7315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4632" y="1115568"/>
            <a:ext cx="91440" cy="9144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0936" y="1115568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1115568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74920" y="10515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57200" y="1307592"/>
            <a:ext cx="5074920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revenue AS (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*,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od.quantity * p.price AS revenue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order_details od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JOIN pizzas p USING(pizza_id)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pt.category,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SUM(r.quantity) AS total_sold,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ROUND(SUM(r.revenue),2) AS total_revenue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revenue r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pizza_types pt USING(pizza_type_id)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category;</a:t>
            </a:r>
            <a:endParaRPr lang="en-US" sz="920" dirty="0"/>
          </a:p>
        </p:txBody>
      </p:sp>
      <p:sp>
        <p:nvSpPr>
          <p:cNvPr id="13" name="Text 10"/>
          <p:cNvSpPr/>
          <p:nvPr/>
        </p:nvSpPr>
        <p:spPr>
          <a:xfrm>
            <a:off x="5989320" y="96012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Query Result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5989320" y="1353312"/>
            <a:ext cx="1463040" cy="347472"/>
          </a:xfrm>
          <a:prstGeom prst="rect">
            <a:avLst/>
          </a:prstGeom>
          <a:solidFill>
            <a:srgbClr val="E63946"/>
          </a:solidFill>
          <a:ln w="6350">
            <a:solidFill>
              <a:srgbClr val="9B1D2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080760" y="135331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Category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7452360" y="1353312"/>
            <a:ext cx="1463040" cy="347472"/>
          </a:xfrm>
          <a:prstGeom prst="rect">
            <a:avLst/>
          </a:prstGeom>
          <a:solidFill>
            <a:srgbClr val="E63946"/>
          </a:solidFill>
          <a:ln w="6350">
            <a:solidFill>
              <a:srgbClr val="9B1D2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543800" y="135331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Total Sold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8915400" y="1353312"/>
            <a:ext cx="1463040" cy="347472"/>
          </a:xfrm>
          <a:prstGeom prst="rect">
            <a:avLst/>
          </a:prstGeom>
          <a:solidFill>
            <a:srgbClr val="E63946"/>
          </a:solidFill>
          <a:ln w="6350">
            <a:solidFill>
              <a:srgbClr val="9B1D2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006840" y="135331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Revenue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10378440" y="1353312"/>
            <a:ext cx="1463040" cy="347472"/>
          </a:xfrm>
          <a:prstGeom prst="rect">
            <a:avLst/>
          </a:prstGeom>
          <a:solidFill>
            <a:srgbClr val="E63946"/>
          </a:solidFill>
          <a:ln w="6350">
            <a:solidFill>
              <a:srgbClr val="9B1D2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469880" y="135331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Revenue Share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5989320" y="1700784"/>
            <a:ext cx="146304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080760" y="1700784"/>
            <a:ext cx="1325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Classic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7452360" y="1700784"/>
            <a:ext cx="146304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543800" y="1700784"/>
            <a:ext cx="1325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14,888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8915400" y="1700784"/>
            <a:ext cx="146304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006840" y="1700784"/>
            <a:ext cx="1325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$220,053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10378440" y="1700784"/>
            <a:ext cx="146304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0469880" y="1700784"/>
            <a:ext cx="1325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26.9%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Shape 27"/>
          <p:cNvSpPr/>
          <p:nvPr/>
        </p:nvSpPr>
        <p:spPr>
          <a:xfrm>
            <a:off x="5989320" y="2039112"/>
            <a:ext cx="1463040" cy="301752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080760" y="2039112"/>
            <a:ext cx="1325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Supreme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Shape 29"/>
          <p:cNvSpPr/>
          <p:nvPr/>
        </p:nvSpPr>
        <p:spPr>
          <a:xfrm>
            <a:off x="7452360" y="2039112"/>
            <a:ext cx="1463040" cy="301752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543800" y="2039112"/>
            <a:ext cx="1325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11,987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Shape 31"/>
          <p:cNvSpPr/>
          <p:nvPr/>
        </p:nvSpPr>
        <p:spPr>
          <a:xfrm>
            <a:off x="8915400" y="2039112"/>
            <a:ext cx="1463040" cy="301752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006840" y="2039112"/>
            <a:ext cx="1325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$208,197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Shape 33"/>
          <p:cNvSpPr/>
          <p:nvPr/>
        </p:nvSpPr>
        <p:spPr>
          <a:xfrm>
            <a:off x="10378440" y="2039112"/>
            <a:ext cx="1463040" cy="301752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10469880" y="2039112"/>
            <a:ext cx="1325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25.5%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Shape 35"/>
          <p:cNvSpPr/>
          <p:nvPr/>
        </p:nvSpPr>
        <p:spPr>
          <a:xfrm>
            <a:off x="5989320" y="2377440"/>
            <a:ext cx="146304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080760" y="2377440"/>
            <a:ext cx="1325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Veggie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Shape 37"/>
          <p:cNvSpPr/>
          <p:nvPr/>
        </p:nvSpPr>
        <p:spPr>
          <a:xfrm>
            <a:off x="7452360" y="2377440"/>
            <a:ext cx="146304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543800" y="2377440"/>
            <a:ext cx="1325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11,649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Shape 39"/>
          <p:cNvSpPr/>
          <p:nvPr/>
        </p:nvSpPr>
        <p:spPr>
          <a:xfrm>
            <a:off x="8915400" y="2377440"/>
            <a:ext cx="146304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9006840" y="2377440"/>
            <a:ext cx="1325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$193,690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Shape 41"/>
          <p:cNvSpPr/>
          <p:nvPr/>
        </p:nvSpPr>
        <p:spPr>
          <a:xfrm>
            <a:off x="10378440" y="2377440"/>
            <a:ext cx="146304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10469880" y="2377440"/>
            <a:ext cx="1325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23.7%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Shape 43"/>
          <p:cNvSpPr/>
          <p:nvPr/>
        </p:nvSpPr>
        <p:spPr>
          <a:xfrm>
            <a:off x="5989320" y="2715768"/>
            <a:ext cx="1463040" cy="301752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080760" y="2715768"/>
            <a:ext cx="1325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Chicken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Shape 45"/>
          <p:cNvSpPr/>
          <p:nvPr/>
        </p:nvSpPr>
        <p:spPr>
          <a:xfrm>
            <a:off x="7452360" y="2715768"/>
            <a:ext cx="1463040" cy="301752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7543800" y="2715768"/>
            <a:ext cx="1325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11,050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Shape 47"/>
          <p:cNvSpPr/>
          <p:nvPr/>
        </p:nvSpPr>
        <p:spPr>
          <a:xfrm>
            <a:off x="8915400" y="2715768"/>
            <a:ext cx="1463040" cy="301752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9006840" y="2715768"/>
            <a:ext cx="1325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$195,920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Shape 49"/>
          <p:cNvSpPr/>
          <p:nvPr/>
        </p:nvSpPr>
        <p:spPr>
          <a:xfrm>
            <a:off x="10378440" y="2715768"/>
            <a:ext cx="1463040" cy="301752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10469880" y="2715768"/>
            <a:ext cx="1325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23.9%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Shape 51"/>
          <p:cNvSpPr/>
          <p:nvPr/>
        </p:nvSpPr>
        <p:spPr>
          <a:xfrm>
            <a:off x="5989320" y="3403854"/>
            <a:ext cx="1389888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5" name="Shape 52"/>
          <p:cNvSpPr/>
          <p:nvPr/>
        </p:nvSpPr>
        <p:spPr>
          <a:xfrm>
            <a:off x="5989320" y="3403854"/>
            <a:ext cx="1389888" cy="6400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5989320" y="3477006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Classic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Text 54"/>
          <p:cNvSpPr/>
          <p:nvPr/>
        </p:nvSpPr>
        <p:spPr>
          <a:xfrm>
            <a:off x="5989320" y="3751326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B728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🥇 #1 by Volume</a:t>
            </a:r>
            <a:endParaRPr 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Text 55"/>
          <p:cNvSpPr/>
          <p:nvPr/>
        </p:nvSpPr>
        <p:spPr>
          <a:xfrm>
            <a:off x="5989320" y="3979926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63946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$220,053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Text 56"/>
          <p:cNvSpPr/>
          <p:nvPr/>
        </p:nvSpPr>
        <p:spPr>
          <a:xfrm>
            <a:off x="5989320" y="4363974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B728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Revenue</a:t>
            </a:r>
            <a:endParaRPr 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Shape 57"/>
          <p:cNvSpPr/>
          <p:nvPr/>
        </p:nvSpPr>
        <p:spPr>
          <a:xfrm>
            <a:off x="7470648" y="3403854"/>
            <a:ext cx="1389888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1" name="Shape 58"/>
          <p:cNvSpPr/>
          <p:nvPr/>
        </p:nvSpPr>
        <p:spPr>
          <a:xfrm>
            <a:off x="7470648" y="3403854"/>
            <a:ext cx="1389888" cy="64008"/>
          </a:xfrm>
          <a:prstGeom prst="rect">
            <a:avLst/>
          </a:prstGeom>
          <a:solidFill>
            <a:srgbClr val="E55B67"/>
          </a:solidFill>
          <a:ln w="12700">
            <a:solidFill>
              <a:srgbClr val="E55B67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7470648" y="3477006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Supreme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3" name="Text 60"/>
          <p:cNvSpPr/>
          <p:nvPr/>
        </p:nvSpPr>
        <p:spPr>
          <a:xfrm>
            <a:off x="7470648" y="3751326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B728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🥈 #2 Revenue</a:t>
            </a:r>
            <a:endParaRPr 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4" name="Text 61"/>
          <p:cNvSpPr/>
          <p:nvPr/>
        </p:nvSpPr>
        <p:spPr>
          <a:xfrm>
            <a:off x="7470648" y="3979926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55B67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$208,197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Text 62"/>
          <p:cNvSpPr/>
          <p:nvPr/>
        </p:nvSpPr>
        <p:spPr>
          <a:xfrm>
            <a:off x="7470648" y="4363974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B728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Revenue</a:t>
            </a:r>
            <a:endParaRPr 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Shape 63"/>
          <p:cNvSpPr/>
          <p:nvPr/>
        </p:nvSpPr>
        <p:spPr>
          <a:xfrm>
            <a:off x="8951976" y="3403854"/>
            <a:ext cx="1389888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7" name="Shape 64"/>
          <p:cNvSpPr/>
          <p:nvPr/>
        </p:nvSpPr>
        <p:spPr>
          <a:xfrm>
            <a:off x="8951976" y="3403854"/>
            <a:ext cx="1389888" cy="64008"/>
          </a:xfrm>
          <a:prstGeom prst="rect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8951976" y="3477006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Chicken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9" name="Text 66"/>
          <p:cNvSpPr/>
          <p:nvPr/>
        </p:nvSpPr>
        <p:spPr>
          <a:xfrm>
            <a:off x="8951976" y="3751326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B728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💪 Best $/Unit</a:t>
            </a:r>
            <a:endParaRPr 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" name="Text 67"/>
          <p:cNvSpPr/>
          <p:nvPr/>
        </p:nvSpPr>
        <p:spPr>
          <a:xfrm>
            <a:off x="8951976" y="3979926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57B9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$195,920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" name="Text 68"/>
          <p:cNvSpPr/>
          <p:nvPr/>
        </p:nvSpPr>
        <p:spPr>
          <a:xfrm>
            <a:off x="8951976" y="4363974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B728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Revenue</a:t>
            </a:r>
            <a:endParaRPr 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" name="Shape 69"/>
          <p:cNvSpPr/>
          <p:nvPr/>
        </p:nvSpPr>
        <p:spPr>
          <a:xfrm>
            <a:off x="10433304" y="3403854"/>
            <a:ext cx="1389888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3" name="Shape 70"/>
          <p:cNvSpPr/>
          <p:nvPr/>
        </p:nvSpPr>
        <p:spPr>
          <a:xfrm>
            <a:off x="10433304" y="3403854"/>
            <a:ext cx="1389888" cy="6400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10433304" y="3477006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Veggie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5" name="Text 72"/>
          <p:cNvSpPr/>
          <p:nvPr/>
        </p:nvSpPr>
        <p:spPr>
          <a:xfrm>
            <a:off x="10433304" y="3751326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B728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📌 Lowest Rev</a:t>
            </a:r>
            <a:endParaRPr 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6" name="Text 73"/>
          <p:cNvSpPr/>
          <p:nvPr/>
        </p:nvSpPr>
        <p:spPr>
          <a:xfrm>
            <a:off x="10433304" y="3979926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B728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$193,690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7" name="Text 74"/>
          <p:cNvSpPr/>
          <p:nvPr/>
        </p:nvSpPr>
        <p:spPr>
          <a:xfrm>
            <a:off x="10433304" y="4363974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B728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Revenue</a:t>
            </a:r>
            <a:endParaRPr 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8" name="Shape 75"/>
          <p:cNvSpPr/>
          <p:nvPr/>
        </p:nvSpPr>
        <p:spPr>
          <a:xfrm>
            <a:off x="5989320" y="5097018"/>
            <a:ext cx="5852160" cy="749808"/>
          </a:xfrm>
          <a:prstGeom prst="rect">
            <a:avLst/>
          </a:prstGeom>
          <a:solidFill>
            <a:srgbClr val="FDECEA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5989320" y="5097018"/>
            <a:ext cx="82296" cy="74980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80" name="Text 77"/>
          <p:cNvSpPr/>
          <p:nvPr/>
        </p:nvSpPr>
        <p:spPr>
          <a:xfrm>
            <a:off x="6190488" y="5097018"/>
            <a:ext cx="55595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90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💡  Revenue is strikingly balanced: Classic leads by volume (14,888 units, 30% of total) but the gap to other categories is small in revenue terms. All 4 categories sit within a $27K band. Chicken earns the best revenue-per-unit — pushing Chicken items in promotions could lift overall margins.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C00000"/>
          </a:solidFill>
          <a:ln w="12700">
            <a:noFill/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73152" cy="6035040"/>
          </a:xfrm>
          <a:prstGeom prst="rect">
            <a:avLst/>
          </a:prstGeom>
          <a:solidFill>
            <a:srgbClr val="C00000"/>
          </a:solidFill>
          <a:ln w="12700">
            <a:noFill/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11457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kern="0" spc="200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TOP 10 MOST POPULAR PIZZAS</a:t>
            </a:r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4389120" cy="5532120"/>
          </a:xfrm>
          <a:prstGeom prst="rect">
            <a:avLst/>
          </a:prstGeom>
          <a:solidFill>
            <a:srgbClr val="1E1E2E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60120"/>
            <a:ext cx="4389120" cy="7315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4632" y="1115568"/>
            <a:ext cx="91440" cy="9144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0936" y="1115568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1115568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60520" y="10515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57200" y="1307592"/>
            <a:ext cx="4160520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revenue AS 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*,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od.quantity * p.price AS revenue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order_details od JOIN pizzas p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USING(pizza_id)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pt.name,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SUM(r.quantity) AS total_sold,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ROUND(SUM(r.revenue),2) AS total_revenue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revenue 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pizza_types pt USING(pizza_type_id)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name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total_sold DESC LIMIT 10;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074920" y="96012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Query Result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5074920" y="1325880"/>
            <a:ext cx="1691640" cy="347472"/>
          </a:xfrm>
          <a:prstGeom prst="rect">
            <a:avLst/>
          </a:prstGeom>
          <a:solidFill>
            <a:srgbClr val="E63946"/>
          </a:solidFill>
          <a:ln w="6350">
            <a:solidFill>
              <a:srgbClr val="9B1D2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166360" y="132588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#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6766560" y="1325880"/>
            <a:ext cx="1691640" cy="347472"/>
          </a:xfrm>
          <a:prstGeom prst="rect">
            <a:avLst/>
          </a:prstGeom>
          <a:solidFill>
            <a:srgbClr val="E63946"/>
          </a:solidFill>
          <a:ln w="6350">
            <a:solidFill>
              <a:srgbClr val="9B1D2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858000" y="132588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Pizza Name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8458200" y="1325880"/>
            <a:ext cx="1691640" cy="347472"/>
          </a:xfrm>
          <a:prstGeom prst="rect">
            <a:avLst/>
          </a:prstGeom>
          <a:solidFill>
            <a:srgbClr val="E63946"/>
          </a:solidFill>
          <a:ln w="6350">
            <a:solidFill>
              <a:srgbClr val="9B1D2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549640" y="132588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Units Sold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10149840" y="1325880"/>
            <a:ext cx="1691640" cy="347472"/>
          </a:xfrm>
          <a:prstGeom prst="rect">
            <a:avLst/>
          </a:prstGeom>
          <a:solidFill>
            <a:srgbClr val="E63946"/>
          </a:solidFill>
          <a:ln w="6350">
            <a:solidFill>
              <a:srgbClr val="9B1D2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241280" y="132588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Revenue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5074920" y="1673352"/>
            <a:ext cx="169164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166360" y="1673352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1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6766560" y="1673352"/>
            <a:ext cx="169164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858000" y="1673352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Classic Deluxe Pizza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8458200" y="1673352"/>
            <a:ext cx="169164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549640" y="1673352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2,453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10149840" y="1673352"/>
            <a:ext cx="169164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0241280" y="1673352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$38,180.50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Shape 27"/>
          <p:cNvSpPr/>
          <p:nvPr/>
        </p:nvSpPr>
        <p:spPr>
          <a:xfrm>
            <a:off x="5074920" y="2020824"/>
            <a:ext cx="1691640" cy="301752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166360" y="2020824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2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Shape 29"/>
          <p:cNvSpPr/>
          <p:nvPr/>
        </p:nvSpPr>
        <p:spPr>
          <a:xfrm>
            <a:off x="6766560" y="2020824"/>
            <a:ext cx="1691640" cy="301752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858000" y="2020824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Barbecue Chicken Pizza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Shape 31"/>
          <p:cNvSpPr/>
          <p:nvPr/>
        </p:nvSpPr>
        <p:spPr>
          <a:xfrm>
            <a:off x="8458200" y="2020824"/>
            <a:ext cx="1691640" cy="301752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549640" y="2020824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2,432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Shape 33"/>
          <p:cNvSpPr/>
          <p:nvPr/>
        </p:nvSpPr>
        <p:spPr>
          <a:xfrm>
            <a:off x="10149840" y="2020824"/>
            <a:ext cx="1691640" cy="301752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10241280" y="2020824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$42,768.00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Shape 35"/>
          <p:cNvSpPr/>
          <p:nvPr/>
        </p:nvSpPr>
        <p:spPr>
          <a:xfrm>
            <a:off x="5074920" y="2368296"/>
            <a:ext cx="169164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166360" y="2368296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3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Shape 37"/>
          <p:cNvSpPr/>
          <p:nvPr/>
        </p:nvSpPr>
        <p:spPr>
          <a:xfrm>
            <a:off x="6766560" y="2368296"/>
            <a:ext cx="169164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858000" y="2368296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Hawaiian Pizza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Shape 39"/>
          <p:cNvSpPr/>
          <p:nvPr/>
        </p:nvSpPr>
        <p:spPr>
          <a:xfrm>
            <a:off x="8458200" y="2368296"/>
            <a:ext cx="169164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8549640" y="2368296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2,422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Shape 41"/>
          <p:cNvSpPr/>
          <p:nvPr/>
        </p:nvSpPr>
        <p:spPr>
          <a:xfrm>
            <a:off x="10149840" y="2368296"/>
            <a:ext cx="169164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10241280" y="2368296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$32,273.25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Shape 43"/>
          <p:cNvSpPr/>
          <p:nvPr/>
        </p:nvSpPr>
        <p:spPr>
          <a:xfrm>
            <a:off x="5074920" y="2715768"/>
            <a:ext cx="1691640" cy="301752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5166360" y="2715768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4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Shape 45"/>
          <p:cNvSpPr/>
          <p:nvPr/>
        </p:nvSpPr>
        <p:spPr>
          <a:xfrm>
            <a:off x="6766560" y="2715768"/>
            <a:ext cx="1691640" cy="301752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6858000" y="2715768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Pepperoni Pizza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Shape 47"/>
          <p:cNvSpPr/>
          <p:nvPr/>
        </p:nvSpPr>
        <p:spPr>
          <a:xfrm>
            <a:off x="8458200" y="2715768"/>
            <a:ext cx="1691640" cy="301752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8549640" y="2715768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2,418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Shape 49"/>
          <p:cNvSpPr/>
          <p:nvPr/>
        </p:nvSpPr>
        <p:spPr>
          <a:xfrm>
            <a:off x="10149840" y="2715768"/>
            <a:ext cx="1691640" cy="301752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10241280" y="2715768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$30,161.75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Shape 51"/>
          <p:cNvSpPr/>
          <p:nvPr/>
        </p:nvSpPr>
        <p:spPr>
          <a:xfrm>
            <a:off x="5074920" y="3063240"/>
            <a:ext cx="169164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5166360" y="3063240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5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Shape 53"/>
          <p:cNvSpPr/>
          <p:nvPr/>
        </p:nvSpPr>
        <p:spPr>
          <a:xfrm>
            <a:off x="6766560" y="3063240"/>
            <a:ext cx="169164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6858000" y="3063240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Thai Chicken Pizza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Shape 55"/>
          <p:cNvSpPr/>
          <p:nvPr/>
        </p:nvSpPr>
        <p:spPr>
          <a:xfrm>
            <a:off x="8458200" y="3063240"/>
            <a:ext cx="169164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8549640" y="3063240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2,371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Shape 57"/>
          <p:cNvSpPr/>
          <p:nvPr/>
        </p:nvSpPr>
        <p:spPr>
          <a:xfrm>
            <a:off x="10149840" y="3063240"/>
            <a:ext cx="169164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10241280" y="3063240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$43,434.25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Shape 59"/>
          <p:cNvSpPr/>
          <p:nvPr/>
        </p:nvSpPr>
        <p:spPr>
          <a:xfrm>
            <a:off x="5074920" y="3410712"/>
            <a:ext cx="1691640" cy="301752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5166360" y="3410712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6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4" name="Shape 61"/>
          <p:cNvSpPr/>
          <p:nvPr/>
        </p:nvSpPr>
        <p:spPr>
          <a:xfrm>
            <a:off x="6766560" y="3410712"/>
            <a:ext cx="1691640" cy="301752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6858000" y="3410712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California Chicken Pizza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Shape 63"/>
          <p:cNvSpPr/>
          <p:nvPr/>
        </p:nvSpPr>
        <p:spPr>
          <a:xfrm>
            <a:off x="8458200" y="3410712"/>
            <a:ext cx="1691640" cy="301752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8549640" y="3410712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2,370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Shape 65"/>
          <p:cNvSpPr/>
          <p:nvPr/>
        </p:nvSpPr>
        <p:spPr>
          <a:xfrm>
            <a:off x="10149840" y="3410712"/>
            <a:ext cx="1691640" cy="301752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10241280" y="3410712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$41,409.50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" name="Shape 67"/>
          <p:cNvSpPr/>
          <p:nvPr/>
        </p:nvSpPr>
        <p:spPr>
          <a:xfrm>
            <a:off x="5074920" y="3758184"/>
            <a:ext cx="169164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5166360" y="3758184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7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" name="Shape 69"/>
          <p:cNvSpPr/>
          <p:nvPr/>
        </p:nvSpPr>
        <p:spPr>
          <a:xfrm>
            <a:off x="6766560" y="3758184"/>
            <a:ext cx="169164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6858000" y="3758184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Sicilian Pizza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4" name="Shape 71"/>
          <p:cNvSpPr/>
          <p:nvPr/>
        </p:nvSpPr>
        <p:spPr>
          <a:xfrm>
            <a:off x="8458200" y="3758184"/>
            <a:ext cx="169164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8549640" y="3758184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1,938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6" name="Shape 73"/>
          <p:cNvSpPr/>
          <p:nvPr/>
        </p:nvSpPr>
        <p:spPr>
          <a:xfrm>
            <a:off x="10149840" y="3758184"/>
            <a:ext cx="169164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10241280" y="3758184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$30,940.50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8" name="Shape 75"/>
          <p:cNvSpPr/>
          <p:nvPr/>
        </p:nvSpPr>
        <p:spPr>
          <a:xfrm>
            <a:off x="5074920" y="4105656"/>
            <a:ext cx="1691640" cy="301752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79" name="Text 76"/>
          <p:cNvSpPr/>
          <p:nvPr/>
        </p:nvSpPr>
        <p:spPr>
          <a:xfrm>
            <a:off x="5166360" y="4105656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8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0" name="Shape 77"/>
          <p:cNvSpPr/>
          <p:nvPr/>
        </p:nvSpPr>
        <p:spPr>
          <a:xfrm>
            <a:off x="6766560" y="4105656"/>
            <a:ext cx="1691640" cy="301752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81" name="Text 78"/>
          <p:cNvSpPr/>
          <p:nvPr/>
        </p:nvSpPr>
        <p:spPr>
          <a:xfrm>
            <a:off x="6858000" y="4105656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Spicy Italian Pizza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2" name="Shape 79"/>
          <p:cNvSpPr/>
          <p:nvPr/>
        </p:nvSpPr>
        <p:spPr>
          <a:xfrm>
            <a:off x="8458200" y="4105656"/>
            <a:ext cx="1691640" cy="301752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83" name="Text 80"/>
          <p:cNvSpPr/>
          <p:nvPr/>
        </p:nvSpPr>
        <p:spPr>
          <a:xfrm>
            <a:off x="8549640" y="4105656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1,924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4" name="Shape 81"/>
          <p:cNvSpPr/>
          <p:nvPr/>
        </p:nvSpPr>
        <p:spPr>
          <a:xfrm>
            <a:off x="10149840" y="4105656"/>
            <a:ext cx="1691640" cy="301752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85" name="Text 82"/>
          <p:cNvSpPr/>
          <p:nvPr/>
        </p:nvSpPr>
        <p:spPr>
          <a:xfrm>
            <a:off x="10241280" y="4105656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$34,831.25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6" name="Shape 83"/>
          <p:cNvSpPr/>
          <p:nvPr/>
        </p:nvSpPr>
        <p:spPr>
          <a:xfrm>
            <a:off x="5074920" y="4453128"/>
            <a:ext cx="169164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87" name="Text 84"/>
          <p:cNvSpPr/>
          <p:nvPr/>
        </p:nvSpPr>
        <p:spPr>
          <a:xfrm>
            <a:off x="5166360" y="4453128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9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8" name="Shape 85"/>
          <p:cNvSpPr/>
          <p:nvPr/>
        </p:nvSpPr>
        <p:spPr>
          <a:xfrm>
            <a:off x="6766560" y="4453128"/>
            <a:ext cx="169164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89" name="Text 86"/>
          <p:cNvSpPr/>
          <p:nvPr/>
        </p:nvSpPr>
        <p:spPr>
          <a:xfrm>
            <a:off x="6858000" y="4453128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Southwest Chicken Pizza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0" name="Shape 87"/>
          <p:cNvSpPr/>
          <p:nvPr/>
        </p:nvSpPr>
        <p:spPr>
          <a:xfrm>
            <a:off x="8458200" y="4453128"/>
            <a:ext cx="169164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91" name="Text 88"/>
          <p:cNvSpPr/>
          <p:nvPr/>
        </p:nvSpPr>
        <p:spPr>
          <a:xfrm>
            <a:off x="8549640" y="4453128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1,917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2" name="Shape 89"/>
          <p:cNvSpPr/>
          <p:nvPr/>
        </p:nvSpPr>
        <p:spPr>
          <a:xfrm>
            <a:off x="10149840" y="4453128"/>
            <a:ext cx="169164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93" name="Text 90"/>
          <p:cNvSpPr/>
          <p:nvPr/>
        </p:nvSpPr>
        <p:spPr>
          <a:xfrm>
            <a:off x="10241280" y="4453128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$34,705.75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4" name="Shape 91"/>
          <p:cNvSpPr/>
          <p:nvPr/>
        </p:nvSpPr>
        <p:spPr>
          <a:xfrm>
            <a:off x="5074920" y="4800600"/>
            <a:ext cx="1691640" cy="301752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95" name="Text 92"/>
          <p:cNvSpPr/>
          <p:nvPr/>
        </p:nvSpPr>
        <p:spPr>
          <a:xfrm>
            <a:off x="5166360" y="4800600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10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6" name="Shape 93"/>
          <p:cNvSpPr/>
          <p:nvPr/>
        </p:nvSpPr>
        <p:spPr>
          <a:xfrm>
            <a:off x="6766560" y="4800600"/>
            <a:ext cx="1691640" cy="301752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97" name="Text 94"/>
          <p:cNvSpPr/>
          <p:nvPr/>
        </p:nvSpPr>
        <p:spPr>
          <a:xfrm>
            <a:off x="6858000" y="4800600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Big Meat Pizza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8" name="Shape 95"/>
          <p:cNvSpPr/>
          <p:nvPr/>
        </p:nvSpPr>
        <p:spPr>
          <a:xfrm>
            <a:off x="8458200" y="4800600"/>
            <a:ext cx="1691640" cy="301752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99" name="Text 96"/>
          <p:cNvSpPr/>
          <p:nvPr/>
        </p:nvSpPr>
        <p:spPr>
          <a:xfrm>
            <a:off x="8549640" y="4800600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1,914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0" name="Shape 97"/>
          <p:cNvSpPr/>
          <p:nvPr/>
        </p:nvSpPr>
        <p:spPr>
          <a:xfrm>
            <a:off x="10149840" y="4800600"/>
            <a:ext cx="1691640" cy="301752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101" name="Text 98"/>
          <p:cNvSpPr/>
          <p:nvPr/>
        </p:nvSpPr>
        <p:spPr>
          <a:xfrm>
            <a:off x="10241280" y="4800600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$22,968.00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" name="Shape 99"/>
          <p:cNvSpPr/>
          <p:nvPr/>
        </p:nvSpPr>
        <p:spPr>
          <a:xfrm>
            <a:off x="5074920" y="5166360"/>
            <a:ext cx="6766560" cy="594360"/>
          </a:xfrm>
          <a:prstGeom prst="rect">
            <a:avLst/>
          </a:prstGeom>
          <a:solidFill>
            <a:srgbClr val="FDECEA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03" name="Shape 100"/>
          <p:cNvSpPr/>
          <p:nvPr/>
        </p:nvSpPr>
        <p:spPr>
          <a:xfrm>
            <a:off x="5074920" y="5166360"/>
            <a:ext cx="82296" cy="59436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04" name="Text 101"/>
          <p:cNvSpPr/>
          <p:nvPr/>
        </p:nvSpPr>
        <p:spPr>
          <a:xfrm>
            <a:off x="5276088" y="5166360"/>
            <a:ext cx="64739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90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💡  Classic Deluxe leads by units (2,453) but Thai Chicken earns the most ($43,434) — its higher price point makes it the hidden revenue champion. All 3 Chicken variants appear in the top 6, confirming Chicken as the premium category. Focus upsells on Chicken pizzas.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5" name="Shape 102"/>
          <p:cNvSpPr/>
          <p:nvPr/>
        </p:nvSpPr>
        <p:spPr>
          <a:xfrm>
            <a:off x="5074920" y="5897880"/>
            <a:ext cx="6766560" cy="594360"/>
          </a:xfrm>
          <a:prstGeom prst="rect">
            <a:avLst/>
          </a:prstGeom>
          <a:solidFill>
            <a:srgbClr val="FDECEA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06" name="Shape 103"/>
          <p:cNvSpPr/>
          <p:nvPr/>
        </p:nvSpPr>
        <p:spPr>
          <a:xfrm>
            <a:off x="5074920" y="5897880"/>
            <a:ext cx="82296" cy="59436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07" name="Text 104"/>
          <p:cNvSpPr/>
          <p:nvPr/>
        </p:nvSpPr>
        <p:spPr>
          <a:xfrm>
            <a:off x="5276088" y="5897880"/>
            <a:ext cx="64739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90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💡  Ranks 7–10 (Sicilian, Spicy Italian, Southwest Chicken, Big Meat) show a sharp drop-off in units (~1,914–1,938 vs 2,371–2,453 for top 6). Consider limited-time offers or combo deals to boost sales of these mid-tier items.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C00000"/>
          </a:solidFill>
          <a:ln w="12700">
            <a:noFill/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73152" cy="6035040"/>
          </a:xfrm>
          <a:prstGeom prst="rect">
            <a:avLst/>
          </a:prstGeom>
          <a:solidFill>
            <a:srgbClr val="C00000"/>
          </a:solidFill>
          <a:ln w="12700">
            <a:noFill/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11457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kern="0" spc="200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MOST FAVOURITE PIZZA SIZE</a:t>
            </a:r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5303520" cy="5166360"/>
          </a:xfrm>
          <a:prstGeom prst="rect">
            <a:avLst/>
          </a:prstGeom>
          <a:solidFill>
            <a:srgbClr val="1E1E2E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60120"/>
            <a:ext cx="5303520" cy="7315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4632" y="1115568"/>
            <a:ext cx="91440" cy="9144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0936" y="1115568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1115568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74920" y="10515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57200" y="1307592"/>
            <a:ext cx="5074920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revenue AS 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*,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od.quantity * p.price AS revenue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order_details od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JOIN pizzas p USING(pizza_id)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r.size,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SUM(r.quantity) AS total_sold,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ROUND(SUM(r.revenue),2) AS total_revenue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revenue 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pizza_types pt USING(pizza_type_id)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size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total_sold DESC;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989320" y="96012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Query Result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5989320" y="1325880"/>
            <a:ext cx="1463040" cy="347472"/>
          </a:xfrm>
          <a:prstGeom prst="rect">
            <a:avLst/>
          </a:prstGeom>
          <a:solidFill>
            <a:srgbClr val="E63946"/>
          </a:solidFill>
          <a:ln w="6350">
            <a:solidFill>
              <a:srgbClr val="9B1D2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080760" y="132588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Size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7452360" y="1325880"/>
            <a:ext cx="1463040" cy="347472"/>
          </a:xfrm>
          <a:prstGeom prst="rect">
            <a:avLst/>
          </a:prstGeom>
          <a:solidFill>
            <a:srgbClr val="E63946"/>
          </a:solidFill>
          <a:ln w="6350">
            <a:solidFill>
              <a:srgbClr val="9B1D2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543800" y="132588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Total Sold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8915400" y="1325880"/>
            <a:ext cx="1463040" cy="347472"/>
          </a:xfrm>
          <a:prstGeom prst="rect">
            <a:avLst/>
          </a:prstGeom>
          <a:solidFill>
            <a:srgbClr val="E63946"/>
          </a:solidFill>
          <a:ln w="6350">
            <a:solidFill>
              <a:srgbClr val="9B1D2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006840" y="132588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Revenue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10378440" y="1325880"/>
            <a:ext cx="1463040" cy="347472"/>
          </a:xfrm>
          <a:prstGeom prst="rect">
            <a:avLst/>
          </a:prstGeom>
          <a:solidFill>
            <a:srgbClr val="E63946"/>
          </a:solidFill>
          <a:ln w="6350">
            <a:solidFill>
              <a:srgbClr val="9B1D2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469880" y="132588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Share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5989320" y="1673352"/>
            <a:ext cx="146304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080760" y="1673352"/>
            <a:ext cx="1325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  (Large)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7452360" y="1673352"/>
            <a:ext cx="146304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543800" y="1673352"/>
            <a:ext cx="1325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18,956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8915400" y="1673352"/>
            <a:ext cx="146304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006840" y="1673352"/>
            <a:ext cx="1325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$375,318.70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10378440" y="1673352"/>
            <a:ext cx="146304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0469880" y="1673352"/>
            <a:ext cx="1325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45.9%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Shape 27"/>
          <p:cNvSpPr/>
          <p:nvPr/>
        </p:nvSpPr>
        <p:spPr>
          <a:xfrm>
            <a:off x="5989320" y="2020824"/>
            <a:ext cx="1463040" cy="301752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080760" y="2020824"/>
            <a:ext cx="1325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  (Medium)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Shape 29"/>
          <p:cNvSpPr/>
          <p:nvPr/>
        </p:nvSpPr>
        <p:spPr>
          <a:xfrm>
            <a:off x="7452360" y="2020824"/>
            <a:ext cx="1463040" cy="301752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543800" y="2020824"/>
            <a:ext cx="1325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15,635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Shape 31"/>
          <p:cNvSpPr/>
          <p:nvPr/>
        </p:nvSpPr>
        <p:spPr>
          <a:xfrm>
            <a:off x="8915400" y="2020824"/>
            <a:ext cx="1463040" cy="301752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006840" y="2020824"/>
            <a:ext cx="1325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$249,382.25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Shape 33"/>
          <p:cNvSpPr/>
          <p:nvPr/>
        </p:nvSpPr>
        <p:spPr>
          <a:xfrm>
            <a:off x="10378440" y="2020824"/>
            <a:ext cx="1463040" cy="301752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10469880" y="2020824"/>
            <a:ext cx="1325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30.5%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Shape 35"/>
          <p:cNvSpPr/>
          <p:nvPr/>
        </p:nvSpPr>
        <p:spPr>
          <a:xfrm>
            <a:off x="5989320" y="2368296"/>
            <a:ext cx="146304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080760" y="2368296"/>
            <a:ext cx="1325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  (Small)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Shape 37"/>
          <p:cNvSpPr/>
          <p:nvPr/>
        </p:nvSpPr>
        <p:spPr>
          <a:xfrm>
            <a:off x="7452360" y="2368296"/>
            <a:ext cx="146304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543800" y="2368296"/>
            <a:ext cx="1325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14,403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Shape 39"/>
          <p:cNvSpPr/>
          <p:nvPr/>
        </p:nvSpPr>
        <p:spPr>
          <a:xfrm>
            <a:off x="8915400" y="2368296"/>
            <a:ext cx="146304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9006840" y="2368296"/>
            <a:ext cx="1325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$178,076.50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Shape 41"/>
          <p:cNvSpPr/>
          <p:nvPr/>
        </p:nvSpPr>
        <p:spPr>
          <a:xfrm>
            <a:off x="10378440" y="2368296"/>
            <a:ext cx="146304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10469880" y="2368296"/>
            <a:ext cx="1325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21.8%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Shape 43"/>
          <p:cNvSpPr/>
          <p:nvPr/>
        </p:nvSpPr>
        <p:spPr>
          <a:xfrm>
            <a:off x="5989320" y="2715768"/>
            <a:ext cx="1463040" cy="301752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080760" y="2715768"/>
            <a:ext cx="1325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XL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Shape 45"/>
          <p:cNvSpPr/>
          <p:nvPr/>
        </p:nvSpPr>
        <p:spPr>
          <a:xfrm>
            <a:off x="7452360" y="2715768"/>
            <a:ext cx="1463040" cy="301752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7543800" y="2715768"/>
            <a:ext cx="1325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552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Shape 47"/>
          <p:cNvSpPr/>
          <p:nvPr/>
        </p:nvSpPr>
        <p:spPr>
          <a:xfrm>
            <a:off x="8915400" y="2715768"/>
            <a:ext cx="1463040" cy="301752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9006840" y="2715768"/>
            <a:ext cx="1325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$14,076.00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Shape 49"/>
          <p:cNvSpPr/>
          <p:nvPr/>
        </p:nvSpPr>
        <p:spPr>
          <a:xfrm>
            <a:off x="10378440" y="2715768"/>
            <a:ext cx="1463040" cy="301752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10469880" y="2715768"/>
            <a:ext cx="1325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1.7%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Shape 51"/>
          <p:cNvSpPr/>
          <p:nvPr/>
        </p:nvSpPr>
        <p:spPr>
          <a:xfrm>
            <a:off x="5989320" y="3063240"/>
            <a:ext cx="146304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6080760" y="3063240"/>
            <a:ext cx="1325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XXL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Shape 53"/>
          <p:cNvSpPr/>
          <p:nvPr/>
        </p:nvSpPr>
        <p:spPr>
          <a:xfrm>
            <a:off x="7452360" y="3063240"/>
            <a:ext cx="146304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7543800" y="3063240"/>
            <a:ext cx="1325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28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Shape 55"/>
          <p:cNvSpPr/>
          <p:nvPr/>
        </p:nvSpPr>
        <p:spPr>
          <a:xfrm>
            <a:off x="8915400" y="3063240"/>
            <a:ext cx="146304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9006840" y="3063240"/>
            <a:ext cx="1325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$1,006.60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Shape 57"/>
          <p:cNvSpPr/>
          <p:nvPr/>
        </p:nvSpPr>
        <p:spPr>
          <a:xfrm>
            <a:off x="10378440" y="3063240"/>
            <a:ext cx="146304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10469880" y="3063240"/>
            <a:ext cx="1325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0.1%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Text 59"/>
          <p:cNvSpPr/>
          <p:nvPr/>
        </p:nvSpPr>
        <p:spPr>
          <a:xfrm>
            <a:off x="5989328" y="3410712"/>
            <a:ext cx="585216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Revenue Share by Size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3" name="Shape 60"/>
          <p:cNvSpPr/>
          <p:nvPr/>
        </p:nvSpPr>
        <p:spPr>
          <a:xfrm>
            <a:off x="5989320" y="3611880"/>
            <a:ext cx="2685578" cy="502920"/>
          </a:xfrm>
          <a:prstGeom prst="rect">
            <a:avLst/>
          </a:prstGeom>
          <a:solidFill>
            <a:srgbClr val="9B1D24"/>
          </a:solidFill>
          <a:ln w="12700">
            <a:solidFill>
              <a:srgbClr val="9B1D24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5989320" y="3611880"/>
            <a:ext cx="26855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Shape 62"/>
          <p:cNvSpPr/>
          <p:nvPr/>
        </p:nvSpPr>
        <p:spPr>
          <a:xfrm>
            <a:off x="8674898" y="3611880"/>
            <a:ext cx="1784442" cy="5029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8674898" y="3611880"/>
            <a:ext cx="17844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7" name="Shape 64"/>
          <p:cNvSpPr/>
          <p:nvPr/>
        </p:nvSpPr>
        <p:spPr>
          <a:xfrm>
            <a:off x="10459340" y="3611880"/>
            <a:ext cx="1274222" cy="50292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10459340" y="3611880"/>
            <a:ext cx="127422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9" name="Shape 66"/>
          <p:cNvSpPr/>
          <p:nvPr/>
        </p:nvSpPr>
        <p:spPr>
          <a:xfrm>
            <a:off x="11733561" y="3611880"/>
            <a:ext cx="100720" cy="502920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11834282" y="3611880"/>
            <a:ext cx="7206" cy="50292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5989320" y="4251960"/>
            <a:ext cx="18288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2" name="Text 69"/>
          <p:cNvSpPr/>
          <p:nvPr/>
        </p:nvSpPr>
        <p:spPr>
          <a:xfrm>
            <a:off x="5989320" y="42976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63946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45.9%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3" name="Text 70"/>
          <p:cNvSpPr/>
          <p:nvPr/>
        </p:nvSpPr>
        <p:spPr>
          <a:xfrm>
            <a:off x="5989320" y="48006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Large Revenue Share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4" name="Text 71"/>
          <p:cNvSpPr/>
          <p:nvPr/>
        </p:nvSpPr>
        <p:spPr>
          <a:xfrm>
            <a:off x="5989320" y="505663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B728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#1 by units &amp; revenue</a:t>
            </a:r>
            <a:endParaRPr 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5" name="Shape 72"/>
          <p:cNvSpPr/>
          <p:nvPr/>
        </p:nvSpPr>
        <p:spPr>
          <a:xfrm>
            <a:off x="7955280" y="4251960"/>
            <a:ext cx="18288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6" name="Text 73"/>
          <p:cNvSpPr/>
          <p:nvPr/>
        </p:nvSpPr>
        <p:spPr>
          <a:xfrm>
            <a:off x="7955280" y="42976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B728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1.2%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7" name="Text 74"/>
          <p:cNvSpPr/>
          <p:nvPr/>
        </p:nvSpPr>
        <p:spPr>
          <a:xfrm>
            <a:off x="7955280" y="48006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XL + XXL Combined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8" name="Text 75"/>
          <p:cNvSpPr/>
          <p:nvPr/>
        </p:nvSpPr>
        <p:spPr>
          <a:xfrm>
            <a:off x="7955280" y="505663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B728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negligible contribution</a:t>
            </a:r>
            <a:endParaRPr 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9" name="Shape 76"/>
          <p:cNvSpPr/>
          <p:nvPr/>
        </p:nvSpPr>
        <p:spPr>
          <a:xfrm>
            <a:off x="9921240" y="4251960"/>
            <a:ext cx="18288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0" name="Text 77"/>
          <p:cNvSpPr/>
          <p:nvPr/>
        </p:nvSpPr>
        <p:spPr>
          <a:xfrm>
            <a:off x="9921240" y="42976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B1D2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18,956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1" name="Text 78"/>
          <p:cNvSpPr/>
          <p:nvPr/>
        </p:nvSpPr>
        <p:spPr>
          <a:xfrm>
            <a:off x="9921240" y="48006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Large Pizzas Sold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2" name="Text 79"/>
          <p:cNvSpPr/>
          <p:nvPr/>
        </p:nvSpPr>
        <p:spPr>
          <a:xfrm>
            <a:off x="9921240" y="505663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B728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most popular by volume</a:t>
            </a:r>
            <a:endParaRPr 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3" name="Shape 80"/>
          <p:cNvSpPr/>
          <p:nvPr/>
        </p:nvSpPr>
        <p:spPr>
          <a:xfrm>
            <a:off x="5989320" y="5376672"/>
            <a:ext cx="5852160" cy="749808"/>
          </a:xfrm>
          <a:prstGeom prst="rect">
            <a:avLst/>
          </a:prstGeom>
          <a:solidFill>
            <a:srgbClr val="FDECEA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5989320" y="5376672"/>
            <a:ext cx="82296" cy="74980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85" name="Text 82"/>
          <p:cNvSpPr/>
          <p:nvPr/>
        </p:nvSpPr>
        <p:spPr>
          <a:xfrm>
            <a:off x="6190488" y="5376672"/>
            <a:ext cx="55595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90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💡  Large is the clear winner: 38.2% of all units sold and 45.9% of revenue. XL and XXL are nearly irrelevant (28 XXL sold all year = 0.1% revenue). Recommendation: train staff to upsell from M to L for a quick revenue lift, and consider sunsetting XXL to simplify operations.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C00000"/>
          </a:solidFill>
          <a:ln w="12700">
            <a:noFill/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00000"/>
          </a:solidFill>
          <a:ln w="12700">
            <a:noFill/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-457200"/>
            <a:ext cx="5029200" cy="5029200"/>
          </a:xfrm>
          <a:prstGeom prst="ellipse">
            <a:avLst/>
          </a:prstGeom>
          <a:solidFill>
            <a:srgbClr val="E63946">
              <a:alpha val="9000"/>
            </a:srgbClr>
          </a:solidFill>
          <a:ln w="12700">
            <a:solidFill>
              <a:srgbClr val="E63946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0" y="3200400"/>
            <a:ext cx="3200400" cy="3200400"/>
          </a:xfrm>
          <a:prstGeom prst="ellipse">
            <a:avLst/>
          </a:prstGeom>
          <a:solidFill>
            <a:srgbClr val="E63946">
              <a:alpha val="14000"/>
            </a:srgbClr>
          </a:solidFill>
          <a:ln w="12700">
            <a:solidFill>
              <a:srgbClr val="E63946">
                <a:alpha val="17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kern="0" spc="300" dirty="0">
                <a:solidFill>
                  <a:srgbClr val="E63946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KEY RECOMMENDATIONS</a:t>
            </a: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20040" y="1078992"/>
            <a:ext cx="5715000" cy="1627632"/>
          </a:xfrm>
          <a:prstGeom prst="rect">
            <a:avLst/>
          </a:prstGeom>
          <a:solidFill>
            <a:srgbClr val="252535"/>
          </a:solidFill>
          <a:ln w="10160">
            <a:solidFill>
              <a:srgbClr val="E6394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078992"/>
            <a:ext cx="82296" cy="162763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4632" y="1152144"/>
            <a:ext cx="438912" cy="438912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" y="11521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33272" y="1193292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Staff Up on Fridays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42416" y="1581912"/>
            <a:ext cx="482803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100" dirty="0">
                <a:solidFill>
                  <a:srgbClr val="9CA3A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Friday peaks at 3,538 orders — 35% above Sunday. Schedule max kitchen staff and ensure full inventory Fri–Sat. Consider Mon/Sun promos to balance demand.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309360" y="1078992"/>
            <a:ext cx="5715000" cy="1627632"/>
          </a:xfrm>
          <a:prstGeom prst="rect">
            <a:avLst/>
          </a:prstGeom>
          <a:solidFill>
            <a:srgbClr val="252535"/>
          </a:solidFill>
          <a:ln w="10160">
            <a:solidFill>
              <a:srgbClr val="E55B6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09360" y="1078992"/>
            <a:ext cx="82296" cy="1627632"/>
          </a:xfrm>
          <a:prstGeom prst="rect">
            <a:avLst/>
          </a:prstGeom>
          <a:solidFill>
            <a:srgbClr val="E55B67"/>
          </a:solidFill>
          <a:ln w="12700">
            <a:solidFill>
              <a:srgbClr val="E55B6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73952" y="1152144"/>
            <a:ext cx="438912" cy="438912"/>
          </a:xfrm>
          <a:prstGeom prst="ellipse">
            <a:avLst/>
          </a:prstGeom>
          <a:solidFill>
            <a:srgbClr val="E55B67"/>
          </a:solidFill>
          <a:ln w="12700">
            <a:solidFill>
              <a:srgbClr val="E55B6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73952" y="11521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022592" y="118872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  Double Down on Lunch Rush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022592" y="1581912"/>
            <a:ext cx="483717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100" dirty="0">
                <a:solidFill>
                  <a:srgbClr val="9CA3A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12pm generates $111,878 — the single biggest revenue hour. Run lunch specials 11am–2pm and dinner bundles 5–7pm. Minimize staff before 11am and after 10pm.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20040" y="2862072"/>
            <a:ext cx="5715000" cy="1627632"/>
          </a:xfrm>
          <a:prstGeom prst="rect">
            <a:avLst/>
          </a:prstGeom>
          <a:solidFill>
            <a:srgbClr val="252535"/>
          </a:solidFill>
          <a:ln w="10160">
            <a:solidFill>
              <a:srgbClr val="F8717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2862072"/>
            <a:ext cx="82296" cy="16276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" y="2935224"/>
            <a:ext cx="438912" cy="438912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" y="2935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24128" y="2989847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🍗  Promote Chicken Category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05840" y="3364992"/>
            <a:ext cx="486460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100" dirty="0">
                <a:solidFill>
                  <a:srgbClr val="9CA3A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Thai Chicken earns the highest revenue ($43,434) despite being #5 in volume. All 3 Chicken variants rank top 6. Feature them in menus and ads for margin lift.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309360" y="2862072"/>
            <a:ext cx="5715000" cy="1627632"/>
          </a:xfrm>
          <a:prstGeom prst="rect">
            <a:avLst/>
          </a:prstGeom>
          <a:solidFill>
            <a:srgbClr val="252535"/>
          </a:solidFill>
          <a:ln w="10160">
            <a:solidFill>
              <a:srgbClr val="457B9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09360" y="2862072"/>
            <a:ext cx="82296" cy="1627632"/>
          </a:xfrm>
          <a:prstGeom prst="rect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73952" y="2935224"/>
            <a:ext cx="438912" cy="438912"/>
          </a:xfrm>
          <a:prstGeom prst="ellipse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73952" y="2935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022592" y="2989847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📏  Upsell to Large Size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022592" y="3364992"/>
            <a:ext cx="483717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100" dirty="0">
                <a:solidFill>
                  <a:srgbClr val="9CA3A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Large drives 45.9% of revenue. Train staff to upsell M→L. Consider sunsetting XXL (only 28 sold all year) to cut complexity and waste.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320040" y="4645152"/>
            <a:ext cx="5715000" cy="1627632"/>
          </a:xfrm>
          <a:prstGeom prst="rect">
            <a:avLst/>
          </a:prstGeom>
          <a:solidFill>
            <a:srgbClr val="252535"/>
          </a:solidFill>
          <a:ln w="10160">
            <a:solidFill>
              <a:srgbClr val="2A9D8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" y="4645152"/>
            <a:ext cx="82296" cy="162763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4632" y="4718304"/>
            <a:ext cx="438912" cy="438912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" y="47183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24128" y="4764024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🗓️  Combat Q4 Revenue Dip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005840" y="5148072"/>
            <a:ext cx="486460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100" dirty="0">
                <a:solidFill>
                  <a:srgbClr val="9CA3A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Oct ($64K) and Dec ($64.7K) are the two weakest months. Launch holiday bundle deals, office party packages, and gift cards in Sep–Nov.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6309360" y="4645152"/>
            <a:ext cx="5715000" cy="1627632"/>
          </a:xfrm>
          <a:prstGeom prst="rect">
            <a:avLst/>
          </a:prstGeom>
          <a:solidFill>
            <a:srgbClr val="252535"/>
          </a:solidFill>
          <a:ln w="10160">
            <a:solidFill>
              <a:srgbClr val="8338E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09360" y="4645152"/>
            <a:ext cx="82296" cy="1627632"/>
          </a:xfrm>
          <a:prstGeom prst="rect">
            <a:avLst/>
          </a:prstGeom>
          <a:solidFill>
            <a:srgbClr val="8338EC"/>
          </a:solidFill>
          <a:ln w="12700">
            <a:solidFill>
              <a:srgbClr val="8338E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473952" y="4718304"/>
            <a:ext cx="438912" cy="438912"/>
          </a:xfrm>
          <a:prstGeom prst="ellipse">
            <a:avLst/>
          </a:prstGeom>
          <a:solidFill>
            <a:srgbClr val="8338EC"/>
          </a:solidFill>
          <a:ln w="12700">
            <a:solidFill>
              <a:srgbClr val="8338E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73952" y="47183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022592" y="4767393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Grow Average Order Size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022592" y="5148072"/>
            <a:ext cx="483717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100" dirty="0">
                <a:solidFill>
                  <a:srgbClr val="9CA3A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At 2.32 pizzas/order, there's clear upside. Introduce family meal deals (3+ pizzas + drinks) and online bundle prompts to push avg toward 3.0+.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49D3E7-A8DB-EB85-2E06-76589DC5C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4FFECD6-4B2A-4A85-4052-36F29917572F}"/>
              </a:ext>
            </a:extLst>
          </p:cNvPr>
          <p:cNvSpPr/>
          <p:nvPr/>
        </p:nvSpPr>
        <p:spPr>
          <a:xfrm>
            <a:off x="8229600" y="0"/>
            <a:ext cx="3959352" cy="68580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9D7FDAD-A215-397E-7A24-56D90706E09F}"/>
              </a:ext>
            </a:extLst>
          </p:cNvPr>
          <p:cNvSpPr/>
          <p:nvPr/>
        </p:nvSpPr>
        <p:spPr>
          <a:xfrm>
            <a:off x="8412480" y="365760"/>
            <a:ext cx="3566160" cy="3566160"/>
          </a:xfrm>
          <a:prstGeom prst="ellipse">
            <a:avLst/>
          </a:prstGeom>
          <a:solidFill>
            <a:srgbClr val="9B1D24">
              <a:alpha val="60000"/>
            </a:srgbClr>
          </a:solidFill>
          <a:ln w="12700">
            <a:solidFill>
              <a:srgbClr val="9B1D24">
                <a:alpha val="60000"/>
              </a:srgbClr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A3E4708-03C5-9C40-4088-80083CBAEDBB}"/>
              </a:ext>
            </a:extLst>
          </p:cNvPr>
          <p:cNvSpPr/>
          <p:nvPr/>
        </p:nvSpPr>
        <p:spPr>
          <a:xfrm>
            <a:off x="8595360" y="822960"/>
            <a:ext cx="3200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0" dirty="0">
                <a:solidFill>
                  <a:srgbClr val="000000"/>
                </a:solidFill>
              </a:rPr>
              <a:t>🍕</a:t>
            </a:r>
            <a:endParaRPr lang="en-US" sz="110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1699396-AFEE-8376-97A1-3AE7291C47EF}"/>
              </a:ext>
            </a:extLst>
          </p:cNvPr>
          <p:cNvSpPr/>
          <p:nvPr/>
        </p:nvSpPr>
        <p:spPr>
          <a:xfrm>
            <a:off x="594360" y="219456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THANK YOU</a:t>
            </a:r>
            <a:endParaRPr lang="en-US" sz="6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6684158-F6E4-2D11-64CB-68CAE1A7509E}"/>
              </a:ext>
            </a:extLst>
          </p:cNvPr>
          <p:cNvSpPr/>
          <p:nvPr/>
        </p:nvSpPr>
        <p:spPr>
          <a:xfrm>
            <a:off x="594360" y="320040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3953724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1992</Words>
  <Application>Microsoft Office PowerPoint</Application>
  <PresentationFormat>Widescreen</PresentationFormat>
  <Paragraphs>444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Ade Eriyanto</cp:lastModifiedBy>
  <cp:revision>35</cp:revision>
  <dcterms:created xsi:type="dcterms:W3CDTF">2026-04-28T03:14:13Z</dcterms:created>
  <dcterms:modified xsi:type="dcterms:W3CDTF">2026-05-02T14:33:40Z</dcterms:modified>
</cp:coreProperties>
</file>